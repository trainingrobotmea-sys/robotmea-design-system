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5" r:id="rId2"/>
    <p:sldMasterId id="2147483677" r:id="rId3"/>
  </p:sldMasterIdLst>
  <p:notesMasterIdLst>
    <p:notesMasterId r:id="rId20"/>
  </p:notesMasterIdLst>
  <p:sldIdLst>
    <p:sldId id="289" r:id="rId4"/>
    <p:sldId id="467" r:id="rId5"/>
    <p:sldId id="611" r:id="rId6"/>
    <p:sldId id="522" r:id="rId7"/>
    <p:sldId id="552" r:id="rId8"/>
    <p:sldId id="600" r:id="rId9"/>
    <p:sldId id="599" r:id="rId10"/>
    <p:sldId id="602" r:id="rId11"/>
    <p:sldId id="604" r:id="rId12"/>
    <p:sldId id="603" r:id="rId13"/>
    <p:sldId id="607" r:id="rId14"/>
    <p:sldId id="605" r:id="rId15"/>
    <p:sldId id="606" r:id="rId16"/>
    <p:sldId id="608" r:id="rId17"/>
    <p:sldId id="609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 Huzema Qureshi" initials="MHQ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449EB8"/>
    <a:srgbClr val="498DFA"/>
    <a:srgbClr val="F89926"/>
    <a:srgbClr val="EAEFF7"/>
    <a:srgbClr val="FF6600"/>
    <a:srgbClr val="FF88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5" autoAdjust="0"/>
    <p:restoredTop sz="94061" autoAdjust="0"/>
  </p:normalViewPr>
  <p:slideViewPr>
    <p:cSldViewPr snapToGrid="0">
      <p:cViewPr varScale="1">
        <p:scale>
          <a:sx n="61" d="100"/>
          <a:sy n="61" d="100"/>
        </p:scale>
        <p:origin x="10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commentAuthors" Target="commentAuthor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DC8291-1E81-4F43-8C56-44DF666246BD}" type="doc">
      <dgm:prSet loTypeId="urn:microsoft.com/office/officeart/2005/8/layout/vList2" loCatId="list" qsTypeId="urn:microsoft.com/office/officeart/2005/8/quickstyle/3d2" qsCatId="3D" csTypeId="urn:microsoft.com/office/officeart/2005/8/colors/accent2_2" csCatId="accent2" phldr="1"/>
      <dgm:spPr/>
      <dgm:t>
        <a:bodyPr/>
        <a:lstStyle/>
        <a:p>
          <a:endParaRPr lang="aa-ET"/>
        </a:p>
      </dgm:t>
    </dgm:pt>
    <dgm:pt modelId="{19C61016-B4FB-4A5B-832D-A63A7DB403F4}">
      <dgm:prSet/>
      <dgm:spPr/>
      <dgm:t>
        <a:bodyPr/>
        <a:lstStyle/>
        <a:p>
          <a:pPr algn="just"/>
          <a:r>
            <a:rPr lang="en-US" b="1" dirty="0"/>
            <a:t>Advisor &amp; Partner of South Korea government for Robotics &amp; </a:t>
          </a:r>
          <a:r>
            <a:rPr lang="en-US" b="1" dirty="0">
              <a:latin typeface="Century" panose="02040604050505020304" pitchFamily="18" charset="0"/>
            </a:rPr>
            <a:t>STEAM</a:t>
          </a:r>
          <a:r>
            <a:rPr lang="en-US" b="1" dirty="0"/>
            <a:t> Education</a:t>
          </a:r>
          <a:endParaRPr lang="aa-ET" b="1" dirty="0"/>
        </a:p>
      </dgm:t>
    </dgm:pt>
    <dgm:pt modelId="{7AA8B2BF-D48C-49D1-9D12-95C2FA0641B4}" type="parTrans" cxnId="{0DB94564-1EBB-4D2E-AA74-321256F4E3B1}">
      <dgm:prSet/>
      <dgm:spPr/>
      <dgm:t>
        <a:bodyPr/>
        <a:lstStyle/>
        <a:p>
          <a:pPr algn="just"/>
          <a:endParaRPr lang="aa-ET" b="1"/>
        </a:p>
      </dgm:t>
    </dgm:pt>
    <dgm:pt modelId="{F35D5FC8-1A2B-4AED-921B-1ECF5873A244}" type="sibTrans" cxnId="{0DB94564-1EBB-4D2E-AA74-321256F4E3B1}">
      <dgm:prSet/>
      <dgm:spPr/>
      <dgm:t>
        <a:bodyPr/>
        <a:lstStyle/>
        <a:p>
          <a:pPr algn="just"/>
          <a:endParaRPr lang="aa-ET" b="1"/>
        </a:p>
      </dgm:t>
    </dgm:pt>
    <dgm:pt modelId="{ADFFD3BF-E2C6-43A8-A6DC-6493CE0C9C46}">
      <dgm:prSet/>
      <dgm:spPr/>
      <dgm:t>
        <a:bodyPr/>
        <a:lstStyle/>
        <a:p>
          <a:pPr algn="just"/>
          <a:r>
            <a:rPr lang="en-US" b="1" dirty="0"/>
            <a:t>Joint R&amp;D Centre operators with Government of South Korea for Robotics &amp; STEAM Education</a:t>
          </a:r>
          <a:endParaRPr lang="aa-ET" b="1" dirty="0"/>
        </a:p>
      </dgm:t>
    </dgm:pt>
    <dgm:pt modelId="{90991451-038C-45AD-8761-7D939E43D802}" type="parTrans" cxnId="{581FA0AD-EB9E-4A1E-9DDC-4A7E096AEA38}">
      <dgm:prSet/>
      <dgm:spPr/>
      <dgm:t>
        <a:bodyPr/>
        <a:lstStyle/>
        <a:p>
          <a:pPr algn="just"/>
          <a:endParaRPr lang="aa-ET" b="1"/>
        </a:p>
      </dgm:t>
    </dgm:pt>
    <dgm:pt modelId="{1B2DB2DC-B643-486C-B02C-BF45AD1DD714}" type="sibTrans" cxnId="{581FA0AD-EB9E-4A1E-9DDC-4A7E096AEA38}">
      <dgm:prSet/>
      <dgm:spPr/>
      <dgm:t>
        <a:bodyPr/>
        <a:lstStyle/>
        <a:p>
          <a:pPr algn="just"/>
          <a:endParaRPr lang="aa-ET" b="1"/>
        </a:p>
      </dgm:t>
    </dgm:pt>
    <dgm:pt modelId="{C8B6EAC0-5FA5-4F35-BAB9-5AEDCDBB25B7}" type="pres">
      <dgm:prSet presAssocID="{CADC8291-1E81-4F43-8C56-44DF666246BD}" presName="linear" presStyleCnt="0">
        <dgm:presLayoutVars>
          <dgm:animLvl val="lvl"/>
          <dgm:resizeHandles val="exact"/>
        </dgm:presLayoutVars>
      </dgm:prSet>
      <dgm:spPr/>
    </dgm:pt>
    <dgm:pt modelId="{C5693E0E-EFE1-4D20-B20F-E24031F79ED9}" type="pres">
      <dgm:prSet presAssocID="{19C61016-B4FB-4A5B-832D-A63A7DB403F4}" presName="parentText" presStyleLbl="node1" presStyleIdx="0" presStyleCnt="2" custScaleY="142818">
        <dgm:presLayoutVars>
          <dgm:chMax val="0"/>
          <dgm:bulletEnabled val="1"/>
        </dgm:presLayoutVars>
      </dgm:prSet>
      <dgm:spPr/>
    </dgm:pt>
    <dgm:pt modelId="{94BABD5E-8798-442D-A8FC-048204B269BA}" type="pres">
      <dgm:prSet presAssocID="{F35D5FC8-1A2B-4AED-921B-1ECF5873A244}" presName="spacer" presStyleCnt="0"/>
      <dgm:spPr/>
    </dgm:pt>
    <dgm:pt modelId="{D326B944-1B6E-4DB0-B450-F3B2EAF1E453}" type="pres">
      <dgm:prSet presAssocID="{ADFFD3BF-E2C6-43A8-A6DC-6493CE0C9C46}" presName="parentText" presStyleLbl="node1" presStyleIdx="1" presStyleCnt="2" custScaleY="131910">
        <dgm:presLayoutVars>
          <dgm:chMax val="0"/>
          <dgm:bulletEnabled val="1"/>
        </dgm:presLayoutVars>
      </dgm:prSet>
      <dgm:spPr/>
    </dgm:pt>
  </dgm:ptLst>
  <dgm:cxnLst>
    <dgm:cxn modelId="{7A58C519-6F01-495E-A4C1-919132E11BB0}" type="presOf" srcId="{CADC8291-1E81-4F43-8C56-44DF666246BD}" destId="{C8B6EAC0-5FA5-4F35-BAB9-5AEDCDBB25B7}" srcOrd="0" destOrd="0" presId="urn:microsoft.com/office/officeart/2005/8/layout/vList2"/>
    <dgm:cxn modelId="{0DB94564-1EBB-4D2E-AA74-321256F4E3B1}" srcId="{CADC8291-1E81-4F43-8C56-44DF666246BD}" destId="{19C61016-B4FB-4A5B-832D-A63A7DB403F4}" srcOrd="0" destOrd="0" parTransId="{7AA8B2BF-D48C-49D1-9D12-95C2FA0641B4}" sibTransId="{F35D5FC8-1A2B-4AED-921B-1ECF5873A244}"/>
    <dgm:cxn modelId="{F711D485-CF8F-41EF-9043-C6211DD115D3}" type="presOf" srcId="{ADFFD3BF-E2C6-43A8-A6DC-6493CE0C9C46}" destId="{D326B944-1B6E-4DB0-B450-F3B2EAF1E453}" srcOrd="0" destOrd="0" presId="urn:microsoft.com/office/officeart/2005/8/layout/vList2"/>
    <dgm:cxn modelId="{6DFE9D94-A3C2-43A5-B151-F5B45C24BA1C}" type="presOf" srcId="{19C61016-B4FB-4A5B-832D-A63A7DB403F4}" destId="{C5693E0E-EFE1-4D20-B20F-E24031F79ED9}" srcOrd="0" destOrd="0" presId="urn:microsoft.com/office/officeart/2005/8/layout/vList2"/>
    <dgm:cxn modelId="{581FA0AD-EB9E-4A1E-9DDC-4A7E096AEA38}" srcId="{CADC8291-1E81-4F43-8C56-44DF666246BD}" destId="{ADFFD3BF-E2C6-43A8-A6DC-6493CE0C9C46}" srcOrd="1" destOrd="0" parTransId="{90991451-038C-45AD-8761-7D939E43D802}" sibTransId="{1B2DB2DC-B643-486C-B02C-BF45AD1DD714}"/>
    <dgm:cxn modelId="{7F4B7861-94FF-4A7B-8CB6-B46521976464}" type="presParOf" srcId="{C8B6EAC0-5FA5-4F35-BAB9-5AEDCDBB25B7}" destId="{C5693E0E-EFE1-4D20-B20F-E24031F79ED9}" srcOrd="0" destOrd="0" presId="urn:microsoft.com/office/officeart/2005/8/layout/vList2"/>
    <dgm:cxn modelId="{256563CB-6BFB-4911-9D01-8C719A7EF29B}" type="presParOf" srcId="{C8B6EAC0-5FA5-4F35-BAB9-5AEDCDBB25B7}" destId="{94BABD5E-8798-442D-A8FC-048204B269BA}" srcOrd="1" destOrd="0" presId="urn:microsoft.com/office/officeart/2005/8/layout/vList2"/>
    <dgm:cxn modelId="{F7053713-7F67-4E93-88AF-EE9449C5E0FA}" type="presParOf" srcId="{C8B6EAC0-5FA5-4F35-BAB9-5AEDCDBB25B7}" destId="{D326B944-1B6E-4DB0-B450-F3B2EAF1E45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ADC8291-1E81-4F43-8C56-44DF666246BD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aa-ET"/>
        </a:p>
      </dgm:t>
    </dgm:pt>
    <dgm:pt modelId="{19C61016-B4FB-4A5B-832D-A63A7DB403F4}">
      <dgm:prSet custT="1"/>
      <dgm:spPr/>
      <dgm:t>
        <a:bodyPr/>
        <a:lstStyle/>
        <a:p>
          <a:pPr algn="just"/>
          <a:r>
            <a:rPr lang="en-US" sz="17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Turnkey Solution provider to Korean Primary &amp; Middle Year Government </a:t>
          </a:r>
          <a:r>
            <a:rPr lang="en-US" sz="1500" b="1" kern="1200" dirty="0">
              <a:solidFill>
                <a:prstClr val="white"/>
              </a:solidFill>
              <a:latin typeface="Century" panose="02040604050505020304" pitchFamily="18" charset="0"/>
              <a:ea typeface="+mn-ea"/>
              <a:cs typeface="+mn-cs"/>
            </a:rPr>
            <a:t>Schools</a:t>
          </a:r>
          <a:r>
            <a:rPr lang="en-US" sz="17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 including technology platforms, academic resource material and teacher’s training </a:t>
          </a:r>
          <a:endParaRPr lang="aa-ET" sz="17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7AA8B2BF-D48C-49D1-9D12-95C2FA0641B4}" type="parTrans" cxnId="{0DB94564-1EBB-4D2E-AA74-321256F4E3B1}">
      <dgm:prSet/>
      <dgm:spPr/>
      <dgm:t>
        <a:bodyPr/>
        <a:lstStyle/>
        <a:p>
          <a:pPr algn="just"/>
          <a:endParaRPr lang="aa-ET" b="1"/>
        </a:p>
      </dgm:t>
    </dgm:pt>
    <dgm:pt modelId="{F35D5FC8-1A2B-4AED-921B-1ECF5873A244}" type="sibTrans" cxnId="{0DB94564-1EBB-4D2E-AA74-321256F4E3B1}">
      <dgm:prSet/>
      <dgm:spPr/>
      <dgm:t>
        <a:bodyPr/>
        <a:lstStyle/>
        <a:p>
          <a:pPr algn="just"/>
          <a:endParaRPr lang="aa-ET" b="1"/>
        </a:p>
      </dgm:t>
    </dgm:pt>
    <dgm:pt modelId="{C8B6EAC0-5FA5-4F35-BAB9-5AEDCDBB25B7}" type="pres">
      <dgm:prSet presAssocID="{CADC8291-1E81-4F43-8C56-44DF666246BD}" presName="linear" presStyleCnt="0">
        <dgm:presLayoutVars>
          <dgm:animLvl val="lvl"/>
          <dgm:resizeHandles val="exact"/>
        </dgm:presLayoutVars>
      </dgm:prSet>
      <dgm:spPr/>
    </dgm:pt>
    <dgm:pt modelId="{C5693E0E-EFE1-4D20-B20F-E24031F79ED9}" type="pres">
      <dgm:prSet presAssocID="{19C61016-B4FB-4A5B-832D-A63A7DB403F4}" presName="parentText" presStyleLbl="node1" presStyleIdx="0" presStyleCnt="1" custScaleY="584923" custLinFactNeighborX="-313" custLinFactNeighborY="115">
        <dgm:presLayoutVars>
          <dgm:chMax val="0"/>
          <dgm:bulletEnabled val="1"/>
        </dgm:presLayoutVars>
      </dgm:prSet>
      <dgm:spPr/>
    </dgm:pt>
  </dgm:ptLst>
  <dgm:cxnLst>
    <dgm:cxn modelId="{7A58C519-6F01-495E-A4C1-919132E11BB0}" type="presOf" srcId="{CADC8291-1E81-4F43-8C56-44DF666246BD}" destId="{C8B6EAC0-5FA5-4F35-BAB9-5AEDCDBB25B7}" srcOrd="0" destOrd="0" presId="urn:microsoft.com/office/officeart/2005/8/layout/vList2"/>
    <dgm:cxn modelId="{0DB94564-1EBB-4D2E-AA74-321256F4E3B1}" srcId="{CADC8291-1E81-4F43-8C56-44DF666246BD}" destId="{19C61016-B4FB-4A5B-832D-A63A7DB403F4}" srcOrd="0" destOrd="0" parTransId="{7AA8B2BF-D48C-49D1-9D12-95C2FA0641B4}" sibTransId="{F35D5FC8-1A2B-4AED-921B-1ECF5873A244}"/>
    <dgm:cxn modelId="{6DFE9D94-A3C2-43A5-B151-F5B45C24BA1C}" type="presOf" srcId="{19C61016-B4FB-4A5B-832D-A63A7DB403F4}" destId="{C5693E0E-EFE1-4D20-B20F-E24031F79ED9}" srcOrd="0" destOrd="0" presId="urn:microsoft.com/office/officeart/2005/8/layout/vList2"/>
    <dgm:cxn modelId="{7F4B7861-94FF-4A7B-8CB6-B46521976464}" type="presParOf" srcId="{C8B6EAC0-5FA5-4F35-BAB9-5AEDCDBB25B7}" destId="{C5693E0E-EFE1-4D20-B20F-E24031F79ED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2ACE69-A08A-4ECC-AA16-53792DA78653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3489E6-F668-43A8-B59E-9CF52CC72E1D}">
      <dgm:prSet phldrT="[Text]" phldr="0" custT="1"/>
      <dgm:spPr/>
      <dgm:t>
        <a:bodyPr/>
        <a:lstStyle/>
        <a:p>
          <a:r>
            <a:rPr lang="en-US" sz="4000" dirty="0"/>
            <a:t>Robotmea</a:t>
          </a:r>
        </a:p>
      </dgm:t>
    </dgm:pt>
    <dgm:pt modelId="{21311FE1-94B7-4751-AA3B-48B517BD8CF0}" type="parTrans" cxnId="{749C527B-2CF6-478D-9B40-9464C03F2662}">
      <dgm:prSet/>
      <dgm:spPr/>
      <dgm:t>
        <a:bodyPr/>
        <a:lstStyle/>
        <a:p>
          <a:endParaRPr lang="en-US"/>
        </a:p>
      </dgm:t>
    </dgm:pt>
    <dgm:pt modelId="{CCE1B6FD-09A5-4AC9-98A7-58FD84CDC72A}" type="sibTrans" cxnId="{749C527B-2CF6-478D-9B40-9464C03F2662}">
      <dgm:prSet/>
      <dgm:spPr/>
      <dgm:t>
        <a:bodyPr/>
        <a:lstStyle/>
        <a:p>
          <a:endParaRPr lang="en-US"/>
        </a:p>
      </dgm:t>
    </dgm:pt>
    <dgm:pt modelId="{2152E197-5492-4EB1-829E-A5AD5257E7DF}" type="asst">
      <dgm:prSet phldrT="[Text]" phldr="0" custT="1"/>
      <dgm:spPr/>
      <dgm:t>
        <a:bodyPr/>
        <a:lstStyle/>
        <a:p>
          <a:r>
            <a:rPr lang="en-US" sz="3200" dirty="0"/>
            <a:t>IERDG</a:t>
          </a:r>
        </a:p>
      </dgm:t>
    </dgm:pt>
    <dgm:pt modelId="{CA77494A-AFA5-4A11-9B05-6FC14F9CCDBF}" type="parTrans" cxnId="{34D71338-1810-4E06-893A-DD17DDFAB483}">
      <dgm:prSet/>
      <dgm:spPr/>
      <dgm:t>
        <a:bodyPr/>
        <a:lstStyle/>
        <a:p>
          <a:endParaRPr lang="en-US"/>
        </a:p>
      </dgm:t>
    </dgm:pt>
    <dgm:pt modelId="{48B28F30-5E14-4FF0-9E7C-AD86F46DA002}" type="sibTrans" cxnId="{34D71338-1810-4E06-893A-DD17DDFAB483}">
      <dgm:prSet/>
      <dgm:spPr/>
      <dgm:t>
        <a:bodyPr/>
        <a:lstStyle/>
        <a:p>
          <a:endParaRPr lang="en-US"/>
        </a:p>
      </dgm:t>
    </dgm:pt>
    <dgm:pt modelId="{8224961E-2349-4E6F-9538-8C651F3731A8}">
      <dgm:prSet phldrT="[Text]" phldr="0" custT="1"/>
      <dgm:spPr/>
      <dgm:t>
        <a:bodyPr/>
        <a:lstStyle/>
        <a:p>
          <a:r>
            <a:rPr lang="en-US" sz="3200" dirty="0"/>
            <a:t>COPR Nexus</a:t>
          </a:r>
        </a:p>
      </dgm:t>
    </dgm:pt>
    <dgm:pt modelId="{31A99F54-269E-4B89-9ABE-D74F7553CEBE}" type="parTrans" cxnId="{FB9E3579-8CA7-419F-9D25-14A367FE6EF6}">
      <dgm:prSet/>
      <dgm:spPr/>
      <dgm:t>
        <a:bodyPr/>
        <a:lstStyle/>
        <a:p>
          <a:endParaRPr lang="en-US"/>
        </a:p>
      </dgm:t>
    </dgm:pt>
    <dgm:pt modelId="{7C3B0F7A-F09C-4C4D-8C12-D6AD2BC1A189}" type="sibTrans" cxnId="{FB9E3579-8CA7-419F-9D25-14A367FE6EF6}">
      <dgm:prSet/>
      <dgm:spPr/>
      <dgm:t>
        <a:bodyPr/>
        <a:lstStyle/>
        <a:p>
          <a:endParaRPr lang="en-US"/>
        </a:p>
      </dgm:t>
    </dgm:pt>
    <dgm:pt modelId="{6FBA896E-3588-4145-A2EA-82E4B679DE68}" type="pres">
      <dgm:prSet presAssocID="{7E2ACE69-A08A-4ECC-AA16-53792DA7865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598C4C7-EA58-4776-BCCC-C81792AA2373}" type="pres">
      <dgm:prSet presAssocID="{0D3489E6-F668-43A8-B59E-9CF52CC72E1D}" presName="hierRoot1" presStyleCnt="0">
        <dgm:presLayoutVars>
          <dgm:hierBranch val="init"/>
        </dgm:presLayoutVars>
      </dgm:prSet>
      <dgm:spPr/>
    </dgm:pt>
    <dgm:pt modelId="{154D0340-6514-4EA4-949F-AB8776CBD3D0}" type="pres">
      <dgm:prSet presAssocID="{0D3489E6-F668-43A8-B59E-9CF52CC72E1D}" presName="rootComposite1" presStyleCnt="0"/>
      <dgm:spPr/>
    </dgm:pt>
    <dgm:pt modelId="{41AA6950-E983-4253-8015-61C05FB12C73}" type="pres">
      <dgm:prSet presAssocID="{0D3489E6-F668-43A8-B59E-9CF52CC72E1D}" presName="rootText1" presStyleLbl="node0" presStyleIdx="0" presStyleCnt="1">
        <dgm:presLayoutVars>
          <dgm:chPref val="3"/>
        </dgm:presLayoutVars>
      </dgm:prSet>
      <dgm:spPr/>
    </dgm:pt>
    <dgm:pt modelId="{8B0CD4AE-5100-42FD-9D1B-ED8EE42A5BFE}" type="pres">
      <dgm:prSet presAssocID="{0D3489E6-F668-43A8-B59E-9CF52CC72E1D}" presName="rootConnector1" presStyleLbl="node1" presStyleIdx="0" presStyleCnt="0"/>
      <dgm:spPr/>
    </dgm:pt>
    <dgm:pt modelId="{4D4E75D5-1C24-4205-B856-66E632D6E810}" type="pres">
      <dgm:prSet presAssocID="{0D3489E6-F668-43A8-B59E-9CF52CC72E1D}" presName="hierChild2" presStyleCnt="0"/>
      <dgm:spPr/>
    </dgm:pt>
    <dgm:pt modelId="{3CB61EDE-A2B1-473B-8350-6954341E56B4}" type="pres">
      <dgm:prSet presAssocID="{31A99F54-269E-4B89-9ABE-D74F7553CEBE}" presName="Name37" presStyleLbl="parChTrans1D2" presStyleIdx="0" presStyleCnt="2"/>
      <dgm:spPr/>
    </dgm:pt>
    <dgm:pt modelId="{18BC2F30-FCAB-426C-98D9-F1408C05B5E0}" type="pres">
      <dgm:prSet presAssocID="{8224961E-2349-4E6F-9538-8C651F3731A8}" presName="hierRoot2" presStyleCnt="0">
        <dgm:presLayoutVars>
          <dgm:hierBranch val="init"/>
        </dgm:presLayoutVars>
      </dgm:prSet>
      <dgm:spPr/>
    </dgm:pt>
    <dgm:pt modelId="{3F1289AA-727F-40C5-B25F-DB895FFDD95A}" type="pres">
      <dgm:prSet presAssocID="{8224961E-2349-4E6F-9538-8C651F3731A8}" presName="rootComposite" presStyleCnt="0"/>
      <dgm:spPr/>
    </dgm:pt>
    <dgm:pt modelId="{6361475F-130D-4D20-B6AD-F9198BCC63D8}" type="pres">
      <dgm:prSet presAssocID="{8224961E-2349-4E6F-9538-8C651F3731A8}" presName="rootText" presStyleLbl="node2" presStyleIdx="0" presStyleCnt="1">
        <dgm:presLayoutVars>
          <dgm:chPref val="3"/>
        </dgm:presLayoutVars>
      </dgm:prSet>
      <dgm:spPr/>
    </dgm:pt>
    <dgm:pt modelId="{C78A492C-F873-4C80-83EA-8F28DFECD683}" type="pres">
      <dgm:prSet presAssocID="{8224961E-2349-4E6F-9538-8C651F3731A8}" presName="rootConnector" presStyleLbl="node2" presStyleIdx="0" presStyleCnt="1"/>
      <dgm:spPr/>
    </dgm:pt>
    <dgm:pt modelId="{BB629691-82A1-4EE0-AAA5-2140F011D5AD}" type="pres">
      <dgm:prSet presAssocID="{8224961E-2349-4E6F-9538-8C651F3731A8}" presName="hierChild4" presStyleCnt="0"/>
      <dgm:spPr/>
    </dgm:pt>
    <dgm:pt modelId="{499C59C8-0CF3-40B0-9B3E-DA165F209A91}" type="pres">
      <dgm:prSet presAssocID="{8224961E-2349-4E6F-9538-8C651F3731A8}" presName="hierChild5" presStyleCnt="0"/>
      <dgm:spPr/>
    </dgm:pt>
    <dgm:pt modelId="{050D775E-2062-4030-BF6A-E76977B65AC1}" type="pres">
      <dgm:prSet presAssocID="{0D3489E6-F668-43A8-B59E-9CF52CC72E1D}" presName="hierChild3" presStyleCnt="0"/>
      <dgm:spPr/>
    </dgm:pt>
    <dgm:pt modelId="{A3345567-D514-4A71-A24D-ECE170CE79C4}" type="pres">
      <dgm:prSet presAssocID="{CA77494A-AFA5-4A11-9B05-6FC14F9CCDBF}" presName="Name111" presStyleLbl="parChTrans1D2" presStyleIdx="1" presStyleCnt="2"/>
      <dgm:spPr/>
    </dgm:pt>
    <dgm:pt modelId="{98BCC3ED-09AD-4120-B4EB-6928AF143474}" type="pres">
      <dgm:prSet presAssocID="{2152E197-5492-4EB1-829E-A5AD5257E7DF}" presName="hierRoot3" presStyleCnt="0">
        <dgm:presLayoutVars>
          <dgm:hierBranch val="init"/>
        </dgm:presLayoutVars>
      </dgm:prSet>
      <dgm:spPr/>
    </dgm:pt>
    <dgm:pt modelId="{7C92AECE-A8C5-4D5D-833F-D0CA45BF5658}" type="pres">
      <dgm:prSet presAssocID="{2152E197-5492-4EB1-829E-A5AD5257E7DF}" presName="rootComposite3" presStyleCnt="0"/>
      <dgm:spPr/>
    </dgm:pt>
    <dgm:pt modelId="{4D3282C0-67BA-4882-B781-ED9C6AA89E63}" type="pres">
      <dgm:prSet presAssocID="{2152E197-5492-4EB1-829E-A5AD5257E7DF}" presName="rootText3" presStyleLbl="asst1" presStyleIdx="0" presStyleCnt="1">
        <dgm:presLayoutVars>
          <dgm:chPref val="3"/>
        </dgm:presLayoutVars>
      </dgm:prSet>
      <dgm:spPr/>
    </dgm:pt>
    <dgm:pt modelId="{BCC1E73E-1E37-4FC6-A0E2-6271C75C54B2}" type="pres">
      <dgm:prSet presAssocID="{2152E197-5492-4EB1-829E-A5AD5257E7DF}" presName="rootConnector3" presStyleLbl="asst1" presStyleIdx="0" presStyleCnt="1"/>
      <dgm:spPr/>
    </dgm:pt>
    <dgm:pt modelId="{EA9AAF19-D2CD-42C7-B27E-EF4E445E896A}" type="pres">
      <dgm:prSet presAssocID="{2152E197-5492-4EB1-829E-A5AD5257E7DF}" presName="hierChild6" presStyleCnt="0"/>
      <dgm:spPr/>
    </dgm:pt>
    <dgm:pt modelId="{7BF446B4-360A-4221-8E75-BC8A45F60AD1}" type="pres">
      <dgm:prSet presAssocID="{2152E197-5492-4EB1-829E-A5AD5257E7DF}" presName="hierChild7" presStyleCnt="0"/>
      <dgm:spPr/>
    </dgm:pt>
  </dgm:ptLst>
  <dgm:cxnLst>
    <dgm:cxn modelId="{4EE0C402-22D1-441B-BFD5-BB9C86012F54}" type="presOf" srcId="{7E2ACE69-A08A-4ECC-AA16-53792DA78653}" destId="{6FBA896E-3588-4145-A2EA-82E4B679DE68}" srcOrd="0" destOrd="0" presId="urn:microsoft.com/office/officeart/2005/8/layout/orgChart1"/>
    <dgm:cxn modelId="{E44C0213-76E4-4669-8AC3-2A9516095961}" type="presOf" srcId="{0D3489E6-F668-43A8-B59E-9CF52CC72E1D}" destId="{41AA6950-E983-4253-8015-61C05FB12C73}" srcOrd="0" destOrd="0" presId="urn:microsoft.com/office/officeart/2005/8/layout/orgChart1"/>
    <dgm:cxn modelId="{3BB39514-81DD-4594-A636-B7FF58C03838}" type="presOf" srcId="{0D3489E6-F668-43A8-B59E-9CF52CC72E1D}" destId="{8B0CD4AE-5100-42FD-9D1B-ED8EE42A5BFE}" srcOrd="1" destOrd="0" presId="urn:microsoft.com/office/officeart/2005/8/layout/orgChart1"/>
    <dgm:cxn modelId="{AD245C17-61E3-4C88-B642-AF9F2E401A25}" type="presOf" srcId="{2152E197-5492-4EB1-829E-A5AD5257E7DF}" destId="{4D3282C0-67BA-4882-B781-ED9C6AA89E63}" srcOrd="0" destOrd="0" presId="urn:microsoft.com/office/officeart/2005/8/layout/orgChart1"/>
    <dgm:cxn modelId="{34D71338-1810-4E06-893A-DD17DDFAB483}" srcId="{0D3489E6-F668-43A8-B59E-9CF52CC72E1D}" destId="{2152E197-5492-4EB1-829E-A5AD5257E7DF}" srcOrd="0" destOrd="0" parTransId="{CA77494A-AFA5-4A11-9B05-6FC14F9CCDBF}" sibTransId="{48B28F30-5E14-4FF0-9E7C-AD86F46DA002}"/>
    <dgm:cxn modelId="{8A5AE464-7CFE-4B72-8455-6DF03DE31FC6}" type="presOf" srcId="{31A99F54-269E-4B89-9ABE-D74F7553CEBE}" destId="{3CB61EDE-A2B1-473B-8350-6954341E56B4}" srcOrd="0" destOrd="0" presId="urn:microsoft.com/office/officeart/2005/8/layout/orgChart1"/>
    <dgm:cxn modelId="{C181FE46-B340-4BB3-B631-59421E5B50F5}" type="presOf" srcId="{8224961E-2349-4E6F-9538-8C651F3731A8}" destId="{6361475F-130D-4D20-B6AD-F9198BCC63D8}" srcOrd="0" destOrd="0" presId="urn:microsoft.com/office/officeart/2005/8/layout/orgChart1"/>
    <dgm:cxn modelId="{C741EC56-5077-4E49-B2C1-3058142AC04B}" type="presOf" srcId="{2152E197-5492-4EB1-829E-A5AD5257E7DF}" destId="{BCC1E73E-1E37-4FC6-A0E2-6271C75C54B2}" srcOrd="1" destOrd="0" presId="urn:microsoft.com/office/officeart/2005/8/layout/orgChart1"/>
    <dgm:cxn modelId="{FB9E3579-8CA7-419F-9D25-14A367FE6EF6}" srcId="{0D3489E6-F668-43A8-B59E-9CF52CC72E1D}" destId="{8224961E-2349-4E6F-9538-8C651F3731A8}" srcOrd="1" destOrd="0" parTransId="{31A99F54-269E-4B89-9ABE-D74F7553CEBE}" sibTransId="{7C3B0F7A-F09C-4C4D-8C12-D6AD2BC1A189}"/>
    <dgm:cxn modelId="{5178257B-BD5B-48D5-ACA4-81A01A3A6DCE}" type="presOf" srcId="{8224961E-2349-4E6F-9538-8C651F3731A8}" destId="{C78A492C-F873-4C80-83EA-8F28DFECD683}" srcOrd="1" destOrd="0" presId="urn:microsoft.com/office/officeart/2005/8/layout/orgChart1"/>
    <dgm:cxn modelId="{749C527B-2CF6-478D-9B40-9464C03F2662}" srcId="{7E2ACE69-A08A-4ECC-AA16-53792DA78653}" destId="{0D3489E6-F668-43A8-B59E-9CF52CC72E1D}" srcOrd="0" destOrd="0" parTransId="{21311FE1-94B7-4751-AA3B-48B517BD8CF0}" sibTransId="{CCE1B6FD-09A5-4AC9-98A7-58FD84CDC72A}"/>
    <dgm:cxn modelId="{F6B3C0FC-BA24-429A-BC3F-D785158DA25E}" type="presOf" srcId="{CA77494A-AFA5-4A11-9B05-6FC14F9CCDBF}" destId="{A3345567-D514-4A71-A24D-ECE170CE79C4}" srcOrd="0" destOrd="0" presId="urn:microsoft.com/office/officeart/2005/8/layout/orgChart1"/>
    <dgm:cxn modelId="{114F9D11-DFB1-4F66-A04D-DFAAA950C6EE}" type="presParOf" srcId="{6FBA896E-3588-4145-A2EA-82E4B679DE68}" destId="{8598C4C7-EA58-4776-BCCC-C81792AA2373}" srcOrd="0" destOrd="0" presId="urn:microsoft.com/office/officeart/2005/8/layout/orgChart1"/>
    <dgm:cxn modelId="{8F03442F-17CC-4BFC-A7FF-34ECC01F5E60}" type="presParOf" srcId="{8598C4C7-EA58-4776-BCCC-C81792AA2373}" destId="{154D0340-6514-4EA4-949F-AB8776CBD3D0}" srcOrd="0" destOrd="0" presId="urn:microsoft.com/office/officeart/2005/8/layout/orgChart1"/>
    <dgm:cxn modelId="{C1AF196B-E4C6-454A-AF85-33488FCB31E9}" type="presParOf" srcId="{154D0340-6514-4EA4-949F-AB8776CBD3D0}" destId="{41AA6950-E983-4253-8015-61C05FB12C73}" srcOrd="0" destOrd="0" presId="urn:microsoft.com/office/officeart/2005/8/layout/orgChart1"/>
    <dgm:cxn modelId="{3ADC51C5-D903-4AA3-8FAC-DFDF6129AB31}" type="presParOf" srcId="{154D0340-6514-4EA4-949F-AB8776CBD3D0}" destId="{8B0CD4AE-5100-42FD-9D1B-ED8EE42A5BFE}" srcOrd="1" destOrd="0" presId="urn:microsoft.com/office/officeart/2005/8/layout/orgChart1"/>
    <dgm:cxn modelId="{DC2DADED-1D61-4078-9395-B20F2FBDD7CD}" type="presParOf" srcId="{8598C4C7-EA58-4776-BCCC-C81792AA2373}" destId="{4D4E75D5-1C24-4205-B856-66E632D6E810}" srcOrd="1" destOrd="0" presId="urn:microsoft.com/office/officeart/2005/8/layout/orgChart1"/>
    <dgm:cxn modelId="{46A2751E-14B4-4396-846A-A4A1164A3DEC}" type="presParOf" srcId="{4D4E75D5-1C24-4205-B856-66E632D6E810}" destId="{3CB61EDE-A2B1-473B-8350-6954341E56B4}" srcOrd="0" destOrd="0" presId="urn:microsoft.com/office/officeart/2005/8/layout/orgChart1"/>
    <dgm:cxn modelId="{9E702D91-5DA8-47ED-8098-E36EEF8957B1}" type="presParOf" srcId="{4D4E75D5-1C24-4205-B856-66E632D6E810}" destId="{18BC2F30-FCAB-426C-98D9-F1408C05B5E0}" srcOrd="1" destOrd="0" presId="urn:microsoft.com/office/officeart/2005/8/layout/orgChart1"/>
    <dgm:cxn modelId="{0CE0514B-7DAB-4F6F-900E-861692A3AEF8}" type="presParOf" srcId="{18BC2F30-FCAB-426C-98D9-F1408C05B5E0}" destId="{3F1289AA-727F-40C5-B25F-DB895FFDD95A}" srcOrd="0" destOrd="0" presId="urn:microsoft.com/office/officeart/2005/8/layout/orgChart1"/>
    <dgm:cxn modelId="{6008EB68-B8B0-4D25-84FA-CD9FAE9BD1F5}" type="presParOf" srcId="{3F1289AA-727F-40C5-B25F-DB895FFDD95A}" destId="{6361475F-130D-4D20-B6AD-F9198BCC63D8}" srcOrd="0" destOrd="0" presId="urn:microsoft.com/office/officeart/2005/8/layout/orgChart1"/>
    <dgm:cxn modelId="{24B0D355-5314-4A32-BDB0-30BA8A2924A9}" type="presParOf" srcId="{3F1289AA-727F-40C5-B25F-DB895FFDD95A}" destId="{C78A492C-F873-4C80-83EA-8F28DFECD683}" srcOrd="1" destOrd="0" presId="urn:microsoft.com/office/officeart/2005/8/layout/orgChart1"/>
    <dgm:cxn modelId="{B7D46ED5-FEB2-4D4E-8E93-77DBAD8ABBD9}" type="presParOf" srcId="{18BC2F30-FCAB-426C-98D9-F1408C05B5E0}" destId="{BB629691-82A1-4EE0-AAA5-2140F011D5AD}" srcOrd="1" destOrd="0" presId="urn:microsoft.com/office/officeart/2005/8/layout/orgChart1"/>
    <dgm:cxn modelId="{5C07352F-E72B-49D7-9582-E3AD3754CD0A}" type="presParOf" srcId="{18BC2F30-FCAB-426C-98D9-F1408C05B5E0}" destId="{499C59C8-0CF3-40B0-9B3E-DA165F209A91}" srcOrd="2" destOrd="0" presId="urn:microsoft.com/office/officeart/2005/8/layout/orgChart1"/>
    <dgm:cxn modelId="{0F527FB7-A7A2-4638-83E6-86BA1D28B52B}" type="presParOf" srcId="{8598C4C7-EA58-4776-BCCC-C81792AA2373}" destId="{050D775E-2062-4030-BF6A-E76977B65AC1}" srcOrd="2" destOrd="0" presId="urn:microsoft.com/office/officeart/2005/8/layout/orgChart1"/>
    <dgm:cxn modelId="{6AFC8648-3AFD-4271-9F6B-1C577E1B119B}" type="presParOf" srcId="{050D775E-2062-4030-BF6A-E76977B65AC1}" destId="{A3345567-D514-4A71-A24D-ECE170CE79C4}" srcOrd="0" destOrd="0" presId="urn:microsoft.com/office/officeart/2005/8/layout/orgChart1"/>
    <dgm:cxn modelId="{572E1B97-8E50-482E-B1C2-BA14DE795355}" type="presParOf" srcId="{050D775E-2062-4030-BF6A-E76977B65AC1}" destId="{98BCC3ED-09AD-4120-B4EB-6928AF143474}" srcOrd="1" destOrd="0" presId="urn:microsoft.com/office/officeart/2005/8/layout/orgChart1"/>
    <dgm:cxn modelId="{DC6293A3-909C-422E-8B68-B1E4E7055A60}" type="presParOf" srcId="{98BCC3ED-09AD-4120-B4EB-6928AF143474}" destId="{7C92AECE-A8C5-4D5D-833F-D0CA45BF5658}" srcOrd="0" destOrd="0" presId="urn:microsoft.com/office/officeart/2005/8/layout/orgChart1"/>
    <dgm:cxn modelId="{88BD5F91-A1D0-46C9-BA26-E35EAB6857C9}" type="presParOf" srcId="{7C92AECE-A8C5-4D5D-833F-D0CA45BF5658}" destId="{4D3282C0-67BA-4882-B781-ED9C6AA89E63}" srcOrd="0" destOrd="0" presId="urn:microsoft.com/office/officeart/2005/8/layout/orgChart1"/>
    <dgm:cxn modelId="{87203DD9-5B55-4A97-81A4-D247D6CE41EA}" type="presParOf" srcId="{7C92AECE-A8C5-4D5D-833F-D0CA45BF5658}" destId="{BCC1E73E-1E37-4FC6-A0E2-6271C75C54B2}" srcOrd="1" destOrd="0" presId="urn:microsoft.com/office/officeart/2005/8/layout/orgChart1"/>
    <dgm:cxn modelId="{FC862594-B024-4E5D-BBDF-BC70EB86A207}" type="presParOf" srcId="{98BCC3ED-09AD-4120-B4EB-6928AF143474}" destId="{EA9AAF19-D2CD-42C7-B27E-EF4E445E896A}" srcOrd="1" destOrd="0" presId="urn:microsoft.com/office/officeart/2005/8/layout/orgChart1"/>
    <dgm:cxn modelId="{65AB236A-C75A-471D-BB2E-E516DB316CAF}" type="presParOf" srcId="{98BCC3ED-09AD-4120-B4EB-6928AF143474}" destId="{7BF446B4-360A-4221-8E75-BC8A45F60AD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693E0E-EFE1-4D20-B20F-E24031F79ED9}">
      <dsp:nvSpPr>
        <dsp:cNvPr id="0" name=""/>
        <dsp:cNvSpPr/>
      </dsp:nvSpPr>
      <dsp:spPr>
        <a:xfrm>
          <a:off x="0" y="55902"/>
          <a:ext cx="4216126" cy="87725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just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Advisor &amp; Partner of South Korea government for Robotics &amp; </a:t>
          </a:r>
          <a:r>
            <a:rPr lang="en-US" sz="1500" b="1" kern="1200" dirty="0">
              <a:latin typeface="Century" panose="02040604050505020304" pitchFamily="18" charset="0"/>
            </a:rPr>
            <a:t>STEAM</a:t>
          </a:r>
          <a:r>
            <a:rPr lang="en-US" sz="1500" b="1" kern="1200" dirty="0"/>
            <a:t> Education</a:t>
          </a:r>
          <a:endParaRPr lang="aa-ET" sz="1500" b="1" kern="1200" dirty="0"/>
        </a:p>
      </dsp:txBody>
      <dsp:txXfrm>
        <a:off x="42824" y="98726"/>
        <a:ext cx="4130478" cy="791611"/>
      </dsp:txXfrm>
    </dsp:sp>
    <dsp:sp modelId="{D326B944-1B6E-4DB0-B450-F3B2EAF1E453}">
      <dsp:nvSpPr>
        <dsp:cNvPr id="0" name=""/>
        <dsp:cNvSpPr/>
      </dsp:nvSpPr>
      <dsp:spPr>
        <a:xfrm>
          <a:off x="0" y="976361"/>
          <a:ext cx="4216126" cy="81025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just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Joint R&amp;D Centre operators with Government of South Korea for Robotics &amp; STEAM Education</a:t>
          </a:r>
          <a:endParaRPr lang="aa-ET" sz="1500" b="1" kern="1200" dirty="0"/>
        </a:p>
      </dsp:txBody>
      <dsp:txXfrm>
        <a:off x="39553" y="1015914"/>
        <a:ext cx="4137020" cy="7311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693E0E-EFE1-4D20-B20F-E24031F79ED9}">
      <dsp:nvSpPr>
        <dsp:cNvPr id="0" name=""/>
        <dsp:cNvSpPr/>
      </dsp:nvSpPr>
      <dsp:spPr>
        <a:xfrm>
          <a:off x="0" y="1156"/>
          <a:ext cx="3798438" cy="168673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Turnkey Solution provider to Korean Primary &amp; Middle Year Government </a:t>
          </a:r>
          <a:r>
            <a:rPr lang="en-US" sz="1500" b="1" kern="1200" dirty="0">
              <a:solidFill>
                <a:prstClr val="white"/>
              </a:solidFill>
              <a:latin typeface="Century" panose="02040604050505020304" pitchFamily="18" charset="0"/>
              <a:ea typeface="+mn-ea"/>
              <a:cs typeface="+mn-cs"/>
            </a:rPr>
            <a:t>Schools</a:t>
          </a:r>
          <a:r>
            <a:rPr lang="en-US" sz="17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 including technology platforms, academic resource material and teacher’s training </a:t>
          </a:r>
          <a:endParaRPr lang="aa-ET" sz="17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82340" y="83496"/>
        <a:ext cx="3633758" cy="15220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345567-D514-4A71-A24D-ECE170CE79C4}">
      <dsp:nvSpPr>
        <dsp:cNvPr id="0" name=""/>
        <dsp:cNvSpPr/>
      </dsp:nvSpPr>
      <dsp:spPr>
        <a:xfrm>
          <a:off x="2796088" y="1167369"/>
          <a:ext cx="245118" cy="1073852"/>
        </a:xfrm>
        <a:custGeom>
          <a:avLst/>
          <a:gdLst/>
          <a:ahLst/>
          <a:cxnLst/>
          <a:rect l="0" t="0" r="0" b="0"/>
          <a:pathLst>
            <a:path>
              <a:moveTo>
                <a:pt x="245118" y="0"/>
              </a:moveTo>
              <a:lnTo>
                <a:pt x="245118" y="1073852"/>
              </a:lnTo>
              <a:lnTo>
                <a:pt x="0" y="107385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B61EDE-A2B1-473B-8350-6954341E56B4}">
      <dsp:nvSpPr>
        <dsp:cNvPr id="0" name=""/>
        <dsp:cNvSpPr/>
      </dsp:nvSpPr>
      <dsp:spPr>
        <a:xfrm>
          <a:off x="2995487" y="1167369"/>
          <a:ext cx="91440" cy="214770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4770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AA6950-E983-4253-8015-61C05FB12C73}">
      <dsp:nvSpPr>
        <dsp:cNvPr id="0" name=""/>
        <dsp:cNvSpPr/>
      </dsp:nvSpPr>
      <dsp:spPr>
        <a:xfrm>
          <a:off x="1873976" y="138"/>
          <a:ext cx="2334462" cy="11672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Robotmea</a:t>
          </a:r>
        </a:p>
      </dsp:txBody>
      <dsp:txXfrm>
        <a:off x="1873976" y="138"/>
        <a:ext cx="2334462" cy="1167231"/>
      </dsp:txXfrm>
    </dsp:sp>
    <dsp:sp modelId="{6361475F-130D-4D20-B6AD-F9198BCC63D8}">
      <dsp:nvSpPr>
        <dsp:cNvPr id="0" name=""/>
        <dsp:cNvSpPr/>
      </dsp:nvSpPr>
      <dsp:spPr>
        <a:xfrm>
          <a:off x="1873976" y="3315074"/>
          <a:ext cx="2334462" cy="11672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COPR Nexus</a:t>
          </a:r>
        </a:p>
      </dsp:txBody>
      <dsp:txXfrm>
        <a:off x="1873976" y="3315074"/>
        <a:ext cx="2334462" cy="1167231"/>
      </dsp:txXfrm>
    </dsp:sp>
    <dsp:sp modelId="{4D3282C0-67BA-4882-B781-ED9C6AA89E63}">
      <dsp:nvSpPr>
        <dsp:cNvPr id="0" name=""/>
        <dsp:cNvSpPr/>
      </dsp:nvSpPr>
      <dsp:spPr>
        <a:xfrm>
          <a:off x="461626" y="1657606"/>
          <a:ext cx="2334462" cy="11672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IERDG</a:t>
          </a:r>
        </a:p>
      </dsp:txBody>
      <dsp:txXfrm>
        <a:off x="461626" y="1657606"/>
        <a:ext cx="2334462" cy="11672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BA9A43-063A-48A8-8E5A-C5A0653F495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3D1557-037F-4CA3-9B52-03D7997F9BA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D1557-037F-4CA3-9B52-03D7997F9BA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663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F3DAA-2131-E1F0-01D9-0A9D1A730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AC2B82-E7CF-3179-E72A-5020CDA68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69EC2F-BA3B-640B-3209-98E974D29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5B2BD-1021-4B87-F5AB-F220F25845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D1557-037F-4CA3-9B52-03D7997F9BA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9843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D1557-037F-4CA3-9B52-03D7997F9BA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056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2DD8D-3B59-80AE-7DAE-F02565A1C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DFD049-4A67-DCE5-B2E5-0CF83C30F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39B994-678F-606D-2E0F-6DE8D9884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1FDCC-FB87-1804-AFE2-7F51BBA28B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D1557-037F-4CA3-9B52-03D7997F9BA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435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FDCE8-26F9-52E1-DA7B-49BF1D854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6396D4-7841-5BA9-BCF1-D6B7D27BA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533635-54B2-3625-0D69-F8F644887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73608-7B82-E885-74DA-C5D646E07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D1557-037F-4CA3-9B52-03D7997F9BA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6674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FB8E9-34F0-386F-B34D-FBD5F06CE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55DA91-364A-99D8-1716-F93029E0F3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C767F8-BC46-B816-4C6A-E960E49EB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BAFC0-886F-D4B9-A86E-A5BA6BF685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D1557-037F-4CA3-9B52-03D7997F9BA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2603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1A5B3-53DB-D4D7-C2AC-39B1F3F86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17447-3BA3-3AF5-BEF9-3D98261BC6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36746D-F75D-CE64-EF21-63B0532E5B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D083B-7C99-61AA-F774-7E6DD2520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D1557-037F-4CA3-9B52-03D7997F9BA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579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86E05-EB30-CE6D-D3E0-9770A4120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5A21EC-E1C6-995E-2CB1-FFAF6981A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D4D8F-5F1D-3238-8359-5B4BE264E1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0EA2A-C4F6-286B-5554-D22252AEE4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D1557-037F-4CA3-9B52-03D7997F9BA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0353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093AC-AD65-B5F5-A622-8DD77E00C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DA721-43E3-6ADD-7C03-862E4FFA7E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BB2136-BEB2-5C9C-6438-7736A4849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1717A-1FA4-66D7-9B6B-3753EDD5BD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D1557-037F-4CA3-9B52-03D7997F9BA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612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12577-8E19-53C8-F767-313C6739D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16E794-D34A-FF9A-9E58-17A19D530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41F90-D32E-88A5-EF62-B7A30F8A7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C3432-0CB0-0B97-2B01-9A7E1C2ED5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D1557-037F-4CA3-9B52-03D7997F9BA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3422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FEC0C-C305-8499-BB7B-9DCAADBBD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68D019-E885-DFE7-CEFC-CC1100A47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326CEC-011C-1106-7DA4-4A6F16A7E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AF2E8-442C-DBC8-42AC-CFF0B8A0F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D1557-037F-4CA3-9B52-03D7997F9BA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2017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348A5-A12C-185A-033D-693624436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3494E4-3B88-C5BE-EFA1-DC37F1191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881223-A565-A9D8-DDDA-5AE322057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CFF2B-2504-D227-0B43-A4289A49F4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D1557-037F-4CA3-9B52-03D7997F9BA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1982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C5E59-7F23-E3F3-2D54-90B089105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DB78F3-A9CF-2D0A-D49F-DF720913A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642EE4-8291-0F7B-3598-374AE6B14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91E1C-9F17-9915-80AD-4926309986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D1557-037F-4CA3-9B52-03D7997F9BA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634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2900" y="215854"/>
            <a:ext cx="2438400" cy="8112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08700" y="90377"/>
            <a:ext cx="6757578" cy="6335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AC0CC-143C-48FE-B57C-BDF39664D92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1663C-4B2C-4613-9D87-602C73E187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AC0CC-143C-48FE-B57C-BDF39664D92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1663C-4B2C-4613-9D87-602C73E187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AC0CC-143C-48FE-B57C-BDF39664D92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1663C-4B2C-4613-9D87-602C73E187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AC0CC-143C-48FE-B57C-BDF39664D92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1663C-4B2C-4613-9D87-602C73E187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AC0CC-143C-48FE-B57C-BDF39664D92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1663C-4B2C-4613-9D87-602C73E187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AC0CC-143C-48FE-B57C-BDF39664D92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1663C-4B2C-4613-9D87-602C73E187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AC0CC-143C-48FE-B57C-BDF39664D92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1663C-4B2C-4613-9D87-602C73E187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AC0CC-143C-48FE-B57C-BDF39664D92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1663C-4B2C-4613-9D87-602C73E187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AC0CC-143C-48FE-B57C-BDF39664D92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1663C-4B2C-4613-9D87-602C73E187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AC0CC-143C-48FE-B57C-BDF39664D92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1663C-4B2C-4613-9D87-602C73E187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AC0CC-143C-48FE-B57C-BDF39664D92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1663C-4B2C-4613-9D87-602C73E187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1CB13-8D4A-4588-96E2-7A4393391E8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9403-7BF5-4F8A-A322-85547A1F47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1CB13-8D4A-4588-96E2-7A4393391E8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9403-7BF5-4F8A-A322-85547A1F47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1CB13-8D4A-4588-96E2-7A4393391E8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9403-7BF5-4F8A-A322-85547A1F47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1CB13-8D4A-4588-96E2-7A4393391E8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9403-7BF5-4F8A-A322-85547A1F47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1CB13-8D4A-4588-96E2-7A4393391E8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9403-7BF5-4F8A-A322-85547A1F47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1CB13-8D4A-4588-96E2-7A4393391E8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9403-7BF5-4F8A-A322-85547A1F47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1CB13-8D4A-4588-96E2-7A4393391E8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9403-7BF5-4F8A-A322-85547A1F47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1CB13-8D4A-4588-96E2-7A4393391E8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9403-7BF5-4F8A-A322-85547A1F47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1CB13-8D4A-4588-96E2-7A4393391E8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9403-7BF5-4F8A-A322-85547A1F47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1CB13-8D4A-4588-96E2-7A4393391E8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9403-7BF5-4F8A-A322-85547A1F47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1CB13-8D4A-4588-96E2-7A4393391E8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9403-7BF5-4F8A-A322-85547A1F47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AC0CC-143C-48FE-B57C-BDF39664D92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11663C-4B2C-4613-9D87-602C73E1879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1CB13-8D4A-4588-96E2-7A4393391E8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619403-7BF5-4F8A-A322-85547A1F47E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13" Type="http://schemas.openxmlformats.org/officeDocument/2006/relationships/diagramQuickStyle" Target="../diagrams/quickStyle2.xml"/><Relationship Id="rId3" Type="http://schemas.openxmlformats.org/officeDocument/2006/relationships/image" Target="../media/image8.png"/><Relationship Id="rId7" Type="http://schemas.openxmlformats.org/officeDocument/2006/relationships/diagramLayout" Target="../diagrams/layout1.xml"/><Relationship Id="rId12" Type="http://schemas.openxmlformats.org/officeDocument/2006/relationships/diagramLayout" Target="../diagrams/layout2.xml"/><Relationship Id="rId17" Type="http://schemas.openxmlformats.org/officeDocument/2006/relationships/image" Target="../media/image19.jpeg"/><Relationship Id="rId2" Type="http://schemas.openxmlformats.org/officeDocument/2006/relationships/image" Target="../media/image3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1.xml"/><Relationship Id="rId11" Type="http://schemas.openxmlformats.org/officeDocument/2006/relationships/diagramData" Target="../diagrams/data2.xml"/><Relationship Id="rId5" Type="http://schemas.openxmlformats.org/officeDocument/2006/relationships/image" Target="../media/image9.png"/><Relationship Id="rId15" Type="http://schemas.microsoft.com/office/2007/relationships/diagramDrawing" Target="../diagrams/drawing2.xml"/><Relationship Id="rId10" Type="http://schemas.microsoft.com/office/2007/relationships/diagramDrawing" Target="../diagrams/drawing1.xml"/><Relationship Id="rId4" Type="http://schemas.openxmlformats.org/officeDocument/2006/relationships/image" Target="../media/image11.png"/><Relationship Id="rId9" Type="http://schemas.openxmlformats.org/officeDocument/2006/relationships/diagramColors" Target="../diagrams/colors1.xml"/><Relationship Id="rId14" Type="http://schemas.openxmlformats.org/officeDocument/2006/relationships/diagramColors" Target="../diagrams/colors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image" Target="../media/image3.png"/><Relationship Id="rId7" Type="http://schemas.openxmlformats.org/officeDocument/2006/relationships/diagramData" Target="../diagrams/data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microsoft.com/office/2007/relationships/diagramDrawing" Target="../diagrams/drawing3.xml"/><Relationship Id="rId5" Type="http://schemas.openxmlformats.org/officeDocument/2006/relationships/image" Target="../media/image11.png"/><Relationship Id="rId10" Type="http://schemas.openxmlformats.org/officeDocument/2006/relationships/diagramColors" Target="../diagrams/colors3.xml"/><Relationship Id="rId4" Type="http://schemas.openxmlformats.org/officeDocument/2006/relationships/image" Target="../media/image8.png"/><Relationship Id="rId9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image" Target="../media/image3.png"/><Relationship Id="rId7" Type="http://schemas.openxmlformats.org/officeDocument/2006/relationships/image" Target="../media/image2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10" Type="http://schemas.openxmlformats.org/officeDocument/2006/relationships/image" Target="../media/image28.jpeg"/><Relationship Id="rId4" Type="http://schemas.openxmlformats.org/officeDocument/2006/relationships/image" Target="../media/image8.png"/><Relationship Id="rId9" Type="http://schemas.openxmlformats.org/officeDocument/2006/relationships/image" Target="../media/image2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32.jpeg"/><Relationship Id="rId7" Type="http://schemas.openxmlformats.org/officeDocument/2006/relationships/hyperlink" Target="http://www.robotmea.com/" TargetMode="External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robotami@robotmea.com" TargetMode="External"/><Relationship Id="rId5" Type="http://schemas.openxmlformats.org/officeDocument/2006/relationships/image" Target="../media/image34.jpeg"/><Relationship Id="rId10" Type="http://schemas.openxmlformats.org/officeDocument/2006/relationships/image" Target="../media/image9.png"/><Relationship Id="rId4" Type="http://schemas.openxmlformats.org/officeDocument/2006/relationships/image" Target="../media/image33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44" y="272268"/>
            <a:ext cx="1902482" cy="6329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46986" y="5844734"/>
            <a:ext cx="7276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210614"/>
            <a:ext cx="93114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ontserrat" pitchFamily="50" charset="0"/>
              </a:rPr>
              <a:t>Robotmea Edutech PVT. LTD.</a:t>
            </a: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387" y="2425281"/>
            <a:ext cx="3696325" cy="246421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865" y="2357673"/>
            <a:ext cx="2231610" cy="278103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8405" y="2084660"/>
            <a:ext cx="4590395" cy="306026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180" y="2178465"/>
            <a:ext cx="2325657" cy="281448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275" y="0"/>
            <a:ext cx="276225" cy="1619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743" y="978967"/>
            <a:ext cx="11690344" cy="9656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0923" y="1795307"/>
            <a:ext cx="5488902" cy="5098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463750" y="5553231"/>
            <a:ext cx="92645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Montserrat"/>
              </a:rPr>
              <a:t>Innovative Education for Shaping Wisdom Driven Societies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849993"/>
            <a:ext cx="12192001" cy="0"/>
          </a:xfrm>
          <a:prstGeom prst="line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309825" y="456135"/>
            <a:ext cx="38821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Montserrat" pitchFamily="50" charset="0"/>
              </a:rPr>
              <a:t>Transforming the Future of Youth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44" y="272268"/>
            <a:ext cx="1902482" cy="6329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275" y="0"/>
            <a:ext cx="276225" cy="1619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723017"/>
            <a:ext cx="12192000" cy="134983"/>
          </a:xfrm>
          <a:prstGeom prst="rect">
            <a:avLst/>
          </a:prstGeom>
          <a:solidFill>
            <a:srgbClr val="FF8809"/>
          </a:solidFill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743" y="978967"/>
            <a:ext cx="11690344" cy="965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2016" y="1282472"/>
            <a:ext cx="9009495" cy="5334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rot="0" spcFirstLastPara="1" vertOverflow="overflow" horzOverflow="overflow" vert="horz" wrap="square" lIns="50777" tIns="50777" rIns="50777" bIns="50777" numCol="1" spcCol="38084" rtlCol="0" anchor="ctr">
            <a:spAutoFit/>
          </a:bodyPr>
          <a:lstStyle/>
          <a:p>
            <a:pPr marL="0" marR="0" lvl="0" indent="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sym typeface="Helvetica Light"/>
              </a:rPr>
              <a:t>Robotmea Capability </a:t>
            </a:r>
            <a:r>
              <a:rPr lang="en-US" sz="2800" b="1" kern="0" noProof="0" dirty="0">
                <a:solidFill>
                  <a:prstClr val="black"/>
                </a:solidFill>
                <a:latin typeface="Century Gothic" panose="020B0502020202020204" pitchFamily="34" charset="0"/>
                <a:sym typeface="Helvetica Light"/>
              </a:rPr>
              <a:t>O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sym typeface="Helvetica Light"/>
              </a:rPr>
              <a:t>verview: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2016" y="1880818"/>
            <a:ext cx="11430232" cy="4510570"/>
          </a:xfrm>
          <a:prstGeom prst="rect">
            <a:avLst/>
          </a:prstGeom>
        </p:spPr>
        <p:txBody>
          <a:bodyPr wrap="square" lIns="129965" tIns="64980" rIns="129965" bIns="64980">
            <a:spAutoFit/>
          </a:bodyPr>
          <a:lstStyle/>
          <a:p>
            <a:r>
              <a:rPr lang="en-US" b="1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Who We Are: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A leading global </a:t>
            </a:r>
            <a:r>
              <a:rPr lang="en-US" b="1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EdTech Research &amp; Development organization</a:t>
            </a: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 shaping the future of learning through </a:t>
            </a:r>
            <a:r>
              <a:rPr lang="en-US" b="1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innovation, research and technological advancement</a:t>
            </a: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Backed by </a:t>
            </a:r>
            <a:r>
              <a:rPr lang="en-US" b="1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3 R&amp;D centers </a:t>
            </a: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in South Korea and </a:t>
            </a:r>
            <a:r>
              <a:rPr lang="en-US" b="1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2 R&amp;D centers in China</a:t>
            </a: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, Robotmea serves as a </a:t>
            </a:r>
            <a:r>
              <a:rPr lang="en-US" b="1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catalyst</a:t>
            </a: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 for educational transformation worldwide.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Enablement &amp; collaboration hub in </a:t>
            </a:r>
            <a:r>
              <a:rPr lang="en-US" b="1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Dubai, UAE</a:t>
            </a: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Management Office is in </a:t>
            </a:r>
            <a:r>
              <a:rPr lang="en-US" b="1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Pakistan</a:t>
            </a: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 H-13, Islamabad and second office is in Karachi.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AI· Robotics· IoT· AR/VR· Astronomy Sciences· STEAM· Emerging Technologies</a:t>
            </a: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 — built into K-12 and Higher Education.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Robotmea empowers educational institutions to cultivate </a:t>
            </a:r>
            <a:r>
              <a:rPr lang="en-US" b="1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innovation, critical thinking, creativity, and workforce readiness</a:t>
            </a: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 for the rapidly evolving digital era.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9825" y="456135"/>
            <a:ext cx="38821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Montserrat" pitchFamily="50" charset="0"/>
              </a:rPr>
              <a:t>Transforming the Future of Youth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3B859-E805-66BB-4F4B-C2B06C59E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7C6C273-0A05-0A3A-F469-678F36ED7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44" y="272268"/>
            <a:ext cx="1902482" cy="632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4A0858-7A6B-CA89-741D-C5292544E6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275" y="0"/>
            <a:ext cx="276225" cy="1619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29F1E2-CA15-52BE-E42F-44BD56AEFB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723017"/>
            <a:ext cx="12192000" cy="134983"/>
          </a:xfrm>
          <a:prstGeom prst="rect">
            <a:avLst/>
          </a:prstGeom>
          <a:solidFill>
            <a:srgbClr val="FF8809"/>
          </a:solidFill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06AE92-235C-8E4A-DA81-8F5C005A54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743" y="978967"/>
            <a:ext cx="11690344" cy="965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36C80C-CE11-D72E-3EDF-1FCA2785D335}"/>
              </a:ext>
            </a:extLst>
          </p:cNvPr>
          <p:cNvSpPr txBox="1"/>
          <p:nvPr/>
        </p:nvSpPr>
        <p:spPr>
          <a:xfrm>
            <a:off x="278743" y="1150658"/>
            <a:ext cx="9009495" cy="5334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rot="0" spcFirstLastPara="1" vertOverflow="overflow" horzOverflow="overflow" vert="horz" wrap="square" lIns="50777" tIns="50777" rIns="50777" bIns="50777" numCol="1" spcCol="38084" rtlCol="0" anchor="ctr">
            <a:spAutoFit/>
          </a:bodyPr>
          <a:lstStyle/>
          <a:p>
            <a:pPr marL="0" marR="0" lvl="0" indent="0" defTabSz="58420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800" b="1" kern="0" dirty="0">
                <a:solidFill>
                  <a:prstClr val="black"/>
                </a:solidFill>
                <a:latin typeface="Century Gothic" panose="020B0502020202020204" pitchFamily="34" charset="0"/>
                <a:sym typeface="Helvetica Light"/>
              </a:rPr>
              <a:t>Titans of EdTech : Our International Partners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sym typeface="Helvetica Ligh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D6E3C7-C282-58C3-3CD4-F6C725EABF06}"/>
              </a:ext>
            </a:extLst>
          </p:cNvPr>
          <p:cNvSpPr/>
          <p:nvPr/>
        </p:nvSpPr>
        <p:spPr>
          <a:xfrm>
            <a:off x="278744" y="1681840"/>
            <a:ext cx="8030027" cy="4926068"/>
          </a:xfrm>
          <a:prstGeom prst="rect">
            <a:avLst/>
          </a:prstGeom>
        </p:spPr>
        <p:txBody>
          <a:bodyPr wrap="square" lIns="129965" tIns="64980" rIns="129965" bIns="64980">
            <a:spAutoFit/>
          </a:bodyPr>
          <a:lstStyle/>
          <a:p>
            <a:r>
              <a:rPr lang="en-US" b="1" kern="0" dirty="0" err="1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Robotron</a:t>
            </a:r>
            <a:r>
              <a:rPr lang="en-US" b="1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25 years of experience, selected by the Korean government for next-generation robotics R&amp;D and adopted across Korea’s public schools as the reference STEAM platform.</a:t>
            </a:r>
          </a:p>
          <a:p>
            <a:pPr>
              <a:lnSpc>
                <a:spcPct val="150000"/>
              </a:lnSpc>
            </a:pPr>
            <a:r>
              <a:rPr lang="en-US" b="1" kern="0" dirty="0" err="1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Neopia</a:t>
            </a:r>
            <a:r>
              <a:rPr lang="en-US" b="1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27 years of experience, selected for the Ministry of Knowledge Economy’s Next-Generation Digital Leader Development Program.</a:t>
            </a:r>
          </a:p>
          <a:p>
            <a:pPr>
              <a:lnSpc>
                <a:spcPct val="150000"/>
              </a:lnSpc>
            </a:pPr>
            <a:r>
              <a:rPr lang="en-US" b="1" kern="0" dirty="0" err="1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Minirobot</a:t>
            </a:r>
            <a:r>
              <a:rPr lang="en-US" b="1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26 years of experience, designer of educational humanoid and provides competition-grade robotics platforms.</a:t>
            </a:r>
          </a:p>
          <a:p>
            <a:pPr>
              <a:lnSpc>
                <a:spcPct val="150000"/>
              </a:lnSpc>
            </a:pPr>
            <a:r>
              <a:rPr lang="en-US" b="1" kern="0" dirty="0" err="1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Sinion</a:t>
            </a:r>
            <a:r>
              <a:rPr lang="en-US" b="1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 &amp; Shandong Chamber of Commerce in Shanghai: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Provide cutting edge technologies required for Pakistan.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029563-8767-49E2-94F1-F2883F3F053D}"/>
              </a:ext>
            </a:extLst>
          </p:cNvPr>
          <p:cNvSpPr txBox="1"/>
          <p:nvPr/>
        </p:nvSpPr>
        <p:spPr>
          <a:xfrm>
            <a:off x="8309825" y="456135"/>
            <a:ext cx="38821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Montserrat" pitchFamily="50" charset="0"/>
              </a:rPr>
              <a:t>Transforming the Future of Youth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9955917-CB97-AC59-5507-73EF436AAB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7778" y="341243"/>
            <a:ext cx="2278407" cy="227840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9B15505-00AC-53BF-66EB-FF67FF3352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25446" y="1231746"/>
            <a:ext cx="2049080" cy="20490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61231A9-BD84-751C-FA3B-7E598E1CC4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7790" y="2549130"/>
            <a:ext cx="2397414" cy="23974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73F517-DDC2-46B5-A60C-FC7FE3C0048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8317" y="1553487"/>
            <a:ext cx="2397414" cy="23974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342F08-6038-2B50-B4B1-4B46DA1950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88587" y="4150077"/>
            <a:ext cx="2286962" cy="229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123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694399-0F3A-4A84-BB10-3952400A0BDD}"/>
              </a:ext>
            </a:extLst>
          </p:cNvPr>
          <p:cNvSpPr/>
          <p:nvPr/>
        </p:nvSpPr>
        <p:spPr>
          <a:xfrm>
            <a:off x="-6111" y="5057867"/>
            <a:ext cx="8236787" cy="1753870"/>
          </a:xfrm>
          <a:prstGeom prst="rect">
            <a:avLst/>
          </a:prstGeom>
          <a:solidFill>
            <a:srgbClr val="469F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0" dirty="0">
                <a:solidFill>
                  <a:schemeClr val="bg1"/>
                </a:solidFill>
                <a:effectLst/>
                <a:latin typeface="Segoe UI Historic" panose="020B0502040204020203" pitchFamily="34" charset="0"/>
              </a:rPr>
              <a:t>Robotmea is deeply rooted in Islamic values like 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egoe UI Historic" panose="020B0502040204020203" pitchFamily="34" charset="0"/>
              </a:rPr>
              <a:t>uncompromising commitment to integrity, transparency, accountability &amp; meritocracy, innovation &amp; creativity, continuous research &amp; development, excellence in quality, pragmatism, respect and trust.</a:t>
            </a:r>
            <a:endParaRPr lang="aa-ET" sz="20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8C147C-FC2A-479D-BB5E-0042066AE9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898" r="2766" b="1836"/>
          <a:stretch/>
        </p:blipFill>
        <p:spPr>
          <a:xfrm>
            <a:off x="8236788" y="3593260"/>
            <a:ext cx="3955211" cy="31297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744" y="272268"/>
            <a:ext cx="1902482" cy="6329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275" y="0"/>
            <a:ext cx="276225" cy="1619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723017"/>
            <a:ext cx="12192000" cy="134983"/>
          </a:xfrm>
          <a:prstGeom prst="rect">
            <a:avLst/>
          </a:prstGeom>
          <a:solidFill>
            <a:srgbClr val="FF8809"/>
          </a:solidFill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743" y="978967"/>
            <a:ext cx="11690344" cy="965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8741" y="1307488"/>
            <a:ext cx="9009495" cy="5334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rot="0" spcFirstLastPara="1" vertOverflow="overflow" horzOverflow="overflow" vert="horz" wrap="square" lIns="50777" tIns="50777" rIns="50777" bIns="50777" numCol="1" spcCol="38084" rtlCol="0" anchor="ctr">
            <a:spAutoFit/>
          </a:bodyPr>
          <a:lstStyle/>
          <a:p>
            <a:pPr marL="0" marR="0" lvl="0" indent="0" defTabSz="583951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kern="0" noProof="0" dirty="0">
                <a:solidFill>
                  <a:prstClr val="black"/>
                </a:solidFill>
                <a:latin typeface="Century Gothic" panose="020B0502020202020204" pitchFamily="34" charset="0"/>
                <a:sym typeface="Helvetica Light"/>
              </a:rPr>
              <a:t>Robotmea: Aspire to Inspire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sym typeface="Helvetica Ligh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8741" y="1760810"/>
            <a:ext cx="10646760" cy="1745261"/>
          </a:xfrm>
          <a:prstGeom prst="rect">
            <a:avLst/>
          </a:prstGeom>
        </p:spPr>
        <p:txBody>
          <a:bodyPr wrap="square" lIns="129965" tIns="64980" rIns="129965" bIns="64980">
            <a:spAutoFit/>
          </a:bodyPr>
          <a:lstStyle/>
          <a:p>
            <a:pPr marL="342900" marR="0" lvl="0" indent="-342900" defTabSz="83024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sym typeface="Helvetica Light"/>
              </a:rPr>
              <a:t>Robotmea is an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sym typeface="Helvetica Light"/>
              </a:rPr>
              <a:t>international edtech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sym typeface="Helvetica Light"/>
              </a:rPr>
              <a:t>research and development organization working in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sym typeface="Helvetica Light"/>
              </a:rPr>
              <a:t>Middle, East, Africa &amp; Pakistan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sym typeface="Helvetica Light"/>
              </a:rPr>
              <a:t>for transforming education through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sym typeface="Helvetica Light"/>
              </a:rPr>
              <a:t>technology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sym typeface="Helvetica Light"/>
              </a:rPr>
              <a:t>,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sym typeface="Helvetica Light"/>
              </a:rPr>
              <a:t>innovation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sym typeface="Helvetica Light"/>
              </a:rPr>
              <a:t> and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sym typeface="Helvetica Light"/>
              </a:rPr>
              <a:t>entrepreneurship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sym typeface="Helvetica Light"/>
              </a:rPr>
              <a:t> with special focus on Artificial Intelligence, Robotics, Internet of Things and Emerging Technologies.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itchFamily="2" charset="0"/>
              <a:sym typeface="Helvetica Ligh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D96BF8-1A12-47F0-BD8D-971B783C9FEB}"/>
              </a:ext>
            </a:extLst>
          </p:cNvPr>
          <p:cNvSpPr txBox="1"/>
          <p:nvPr/>
        </p:nvSpPr>
        <p:spPr>
          <a:xfrm>
            <a:off x="278741" y="3506071"/>
            <a:ext cx="9009495" cy="408228"/>
          </a:xfrm>
          <a:prstGeom prst="rect">
            <a:avLst/>
          </a:prstGeom>
        </p:spPr>
        <p:txBody>
          <a:bodyPr wrap="square" lIns="129965" tIns="64980" rIns="129965" bIns="64980">
            <a:spAutoFit/>
          </a:bodyPr>
          <a:lstStyle>
            <a:defPPr>
              <a:defRPr lang="en-US"/>
            </a:defPPr>
            <a:lvl1pPr marL="342900" marR="0" lvl="0" indent="-342900" defTabSz="83024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kumimoji="0" b="0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" panose="02040604050505020304" pitchFamily="18" charset="0"/>
              </a:defRPr>
            </a:lvl1pPr>
          </a:lstStyle>
          <a:p>
            <a:r>
              <a:rPr lang="en-US" b="1" dirty="0">
                <a:latin typeface="Montserrat" pitchFamily="2" charset="0"/>
                <a:sym typeface="Helvetica Light"/>
              </a:rPr>
              <a:t>Vision:</a:t>
            </a:r>
            <a:r>
              <a:rPr lang="en-US" dirty="0">
                <a:latin typeface="Montserrat" pitchFamily="2" charset="0"/>
                <a:sym typeface="Helvetica Light"/>
              </a:rPr>
              <a:t> Transforming </a:t>
            </a:r>
            <a:r>
              <a:rPr lang="en-US" dirty="0">
                <a:latin typeface="Century Gothic" panose="020B0502020202020204" pitchFamily="34" charset="0"/>
                <a:sym typeface="Helvetica Light"/>
              </a:rPr>
              <a:t>the</a:t>
            </a:r>
            <a:r>
              <a:rPr lang="en-US" dirty="0">
                <a:latin typeface="Montserrat" pitchFamily="2" charset="0"/>
                <a:sym typeface="Helvetica Light"/>
              </a:rPr>
              <a:t> </a:t>
            </a:r>
            <a:r>
              <a:rPr lang="en-US" dirty="0">
                <a:latin typeface="Century Gothic" panose="020B0502020202020204" pitchFamily="34" charset="0"/>
                <a:sym typeface="Helvetica Light"/>
              </a:rPr>
              <a:t>Future</a:t>
            </a:r>
            <a:r>
              <a:rPr lang="en-US" dirty="0">
                <a:latin typeface="Montserrat" pitchFamily="2" charset="0"/>
                <a:sym typeface="Helvetica Light"/>
              </a:rPr>
              <a:t> of Youth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C51D77-ABE3-4505-B176-CE6E3F6D0495}"/>
              </a:ext>
            </a:extLst>
          </p:cNvPr>
          <p:cNvSpPr txBox="1"/>
          <p:nvPr/>
        </p:nvSpPr>
        <p:spPr>
          <a:xfrm>
            <a:off x="278744" y="3914299"/>
            <a:ext cx="7667078" cy="915418"/>
          </a:xfrm>
          <a:prstGeom prst="rect">
            <a:avLst/>
          </a:prstGeom>
        </p:spPr>
        <p:txBody>
          <a:bodyPr wrap="square" lIns="129965" tIns="64980" rIns="129965" bIns="64980">
            <a:spAutoFit/>
          </a:bodyPr>
          <a:lstStyle>
            <a:defPPr>
              <a:defRPr lang="en-US"/>
            </a:defPPr>
            <a:lvl1pPr marL="342900" marR="0" lvl="0" indent="-342900" defTabSz="83024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kumimoji="0" b="0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" panose="02040604050505020304" pitchFamily="18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b="1" dirty="0">
                <a:latin typeface="Montserrat" pitchFamily="2" charset="0"/>
                <a:sym typeface="Helvetica Light"/>
              </a:rPr>
              <a:t>Strategic </a:t>
            </a:r>
            <a:r>
              <a:rPr lang="en-US" b="1" dirty="0">
                <a:latin typeface="Century Gothic" panose="020B0502020202020204" pitchFamily="34" charset="0"/>
                <a:sym typeface="Helvetica Light"/>
              </a:rPr>
              <a:t>Objective</a:t>
            </a:r>
            <a:r>
              <a:rPr lang="en-US" b="1" dirty="0">
                <a:latin typeface="Montserrat" pitchFamily="2" charset="0"/>
                <a:sym typeface="Helvetica Light"/>
              </a:rPr>
              <a:t>:</a:t>
            </a:r>
            <a:r>
              <a:rPr lang="en-US" dirty="0">
                <a:latin typeface="Montserrat" pitchFamily="2" charset="0"/>
                <a:sym typeface="Helvetica Light"/>
              </a:rPr>
              <a:t> Innovative education for shaping wisdom driven economies.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744F2D-B6C5-48B8-8160-46FC5FF6DAA7}"/>
              </a:ext>
            </a:extLst>
          </p:cNvPr>
          <p:cNvSpPr txBox="1"/>
          <p:nvPr/>
        </p:nvSpPr>
        <p:spPr>
          <a:xfrm>
            <a:off x="7832786" y="434761"/>
            <a:ext cx="42066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latin typeface="Montserrat" pitchFamily="2" charset="0"/>
              </a:rPr>
              <a:t>Transforming the Future of Youth</a:t>
            </a:r>
          </a:p>
        </p:txBody>
      </p:sp>
    </p:spTree>
    <p:extLst>
      <p:ext uri="{BB962C8B-B14F-4D97-AF65-F5344CB8AC3E}">
        <p14:creationId xmlns:p14="http://schemas.microsoft.com/office/powerpoint/2010/main" val="1729838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44" y="272268"/>
            <a:ext cx="1902482" cy="6329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275" y="0"/>
            <a:ext cx="276225" cy="1619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723017"/>
            <a:ext cx="12192000" cy="134983"/>
          </a:xfrm>
          <a:prstGeom prst="rect">
            <a:avLst/>
          </a:prstGeom>
          <a:solidFill>
            <a:srgbClr val="FF8809"/>
          </a:solidFill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743" y="978967"/>
            <a:ext cx="11690344" cy="965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8743" y="1142320"/>
            <a:ext cx="10723970" cy="5334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rot="0" spcFirstLastPara="1" vertOverflow="overflow" horzOverflow="overflow" vert="horz" wrap="square" lIns="50777" tIns="50777" rIns="50777" bIns="50777" numCol="1" spcCol="38084" rtlCol="0" anchor="ctr">
            <a:spAutoFit/>
          </a:bodyPr>
          <a:lstStyle>
            <a:defPPr>
              <a:defRPr lang="en-US"/>
            </a:defPPr>
            <a:lvl1pPr marR="0" lvl="0" indent="0" defTabSz="58395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 kern="0">
                <a:solidFill>
                  <a:prstClr val="black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>
                <a:sym typeface="Helvetica Light"/>
              </a:rPr>
              <a:t>Trust us we know Global Edtech Industry!!! Alhamdulilah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0C8B87B-D1DA-440F-AE4E-A6CF0EB117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8072833"/>
              </p:ext>
            </p:extLst>
          </p:nvPr>
        </p:nvGraphicFramePr>
        <p:xfrm>
          <a:off x="278743" y="4829525"/>
          <a:ext cx="4216126" cy="18425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7A9E14E6-D0E5-4D11-BD8E-4D3E546F22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316623"/>
              </p:ext>
            </p:extLst>
          </p:nvPr>
        </p:nvGraphicFramePr>
        <p:xfrm>
          <a:off x="4616710" y="4902725"/>
          <a:ext cx="3798438" cy="16883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79CECF57-CBB0-4E35-BA4C-B20AB43916D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69397" y="2740617"/>
            <a:ext cx="4089628" cy="18886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0DF3CD-DA56-4C3D-BAD5-6675C36ACD87}"/>
              </a:ext>
            </a:extLst>
          </p:cNvPr>
          <p:cNvSpPr txBox="1"/>
          <p:nvPr/>
        </p:nvSpPr>
        <p:spPr>
          <a:xfrm>
            <a:off x="8525093" y="4698773"/>
            <a:ext cx="3443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entury" panose="02040604050505020304" pitchFamily="18" charset="0"/>
              </a:rPr>
              <a:t>Robotmea partner’s product in National Korean Textbooks</a:t>
            </a:r>
            <a:endParaRPr lang="aa-ET" b="1" dirty="0">
              <a:latin typeface="Century" panose="020406040505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4A6A8A-AE7A-4C04-ACA0-D6D5E52F3682}"/>
              </a:ext>
            </a:extLst>
          </p:cNvPr>
          <p:cNvSpPr txBox="1"/>
          <p:nvPr/>
        </p:nvSpPr>
        <p:spPr>
          <a:xfrm>
            <a:off x="8199109" y="1766316"/>
            <a:ext cx="37699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ontserrat" pitchFamily="2" charset="0"/>
              </a:rPr>
              <a:t>Robotmea International in collaboration with its Partners in South Korea are</a:t>
            </a:r>
            <a:endParaRPr lang="aa-ET" b="1" dirty="0">
              <a:latin typeface="Montserrat" pitchFamily="2" charset="0"/>
            </a:endParaRPr>
          </a:p>
        </p:txBody>
      </p:sp>
      <p:pic>
        <p:nvPicPr>
          <p:cNvPr id="1026" name="Picture 2" descr="May be an image of text that says &quot;శవ Robotmea Transforming the Future of Youth LEADERS IN IN EDTECH Robotmea is revolutionizing education globally by blending technology, innovation, and entrepreneurship into our specialized STEAM programs. 200,000+ + Students Associated 10,000+ Teachers Trained 200+ Projects Executed 30+ Existence In Countries UAE PAKISTAN SOUTH KOREA AFRICA f @robotami MIDDLE EAST O @robot_mea mea robotmea robatmea robotmea&quot;">
            <a:extLst>
              <a:ext uri="{FF2B5EF4-FFF2-40B4-BE49-F238E27FC236}">
                <a16:creationId xmlns:a16="http://schemas.microsoft.com/office/drawing/2014/main" id="{425FE974-FF3A-44A7-A7F0-9612BA80ED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216" b="11804"/>
          <a:stretch/>
        </p:blipFill>
        <p:spPr bwMode="auto">
          <a:xfrm>
            <a:off x="278743" y="1690801"/>
            <a:ext cx="7596748" cy="3113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21FE7AE-499A-4FBC-ACBC-0F926B8ED613}"/>
              </a:ext>
            </a:extLst>
          </p:cNvPr>
          <p:cNvSpPr txBox="1"/>
          <p:nvPr/>
        </p:nvSpPr>
        <p:spPr>
          <a:xfrm>
            <a:off x="7832786" y="434761"/>
            <a:ext cx="42066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latin typeface="Montserrat" pitchFamily="2" charset="0"/>
              </a:rPr>
              <a:t>Transforming the Future of Youth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927E46-728F-617D-AA52-80E09B9B6770}"/>
              </a:ext>
            </a:extLst>
          </p:cNvPr>
          <p:cNvSpPr txBox="1"/>
          <p:nvPr/>
        </p:nvSpPr>
        <p:spPr>
          <a:xfrm>
            <a:off x="8536989" y="5526229"/>
            <a:ext cx="34439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entury" panose="02040604050505020304" pitchFamily="18" charset="0"/>
              </a:rPr>
              <a:t>Robotmea started its operation back in 2018 in Pakistan.</a:t>
            </a:r>
            <a:endParaRPr lang="aa-ET" sz="2000" b="1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076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C23FD-3935-02EC-1333-A93516FF0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74197B-1467-8495-AD47-5BF9E6F27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44" y="272268"/>
            <a:ext cx="1902482" cy="632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380642-7D46-EC97-8857-63FB1334F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275" y="0"/>
            <a:ext cx="276225" cy="1619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9866A6-3F61-FF96-3111-BE062CB7E0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723017"/>
            <a:ext cx="12192000" cy="134983"/>
          </a:xfrm>
          <a:prstGeom prst="rect">
            <a:avLst/>
          </a:prstGeom>
          <a:solidFill>
            <a:srgbClr val="FF8809"/>
          </a:solidFill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A3E471-3CDE-E436-6D76-7D15031449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743" y="978967"/>
            <a:ext cx="11690344" cy="965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4D01AA0-8AF7-3EF7-EA1B-11FF7176D7AA}"/>
              </a:ext>
            </a:extLst>
          </p:cNvPr>
          <p:cNvSpPr txBox="1"/>
          <p:nvPr/>
        </p:nvSpPr>
        <p:spPr>
          <a:xfrm>
            <a:off x="278743" y="1259807"/>
            <a:ext cx="10655294" cy="5334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rot="0" spcFirstLastPara="1" vertOverflow="overflow" horzOverflow="overflow" vert="horz" wrap="square" lIns="50777" tIns="50777" rIns="50777" bIns="50777" numCol="1" spcCol="38084" rtlCol="0" anchor="ctr">
            <a:spAutoFit/>
          </a:bodyPr>
          <a:lstStyle/>
          <a:p>
            <a:pPr lvl="0" defTabSz="584200" latinLnBrk="1" hangingPunct="0"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sym typeface="Helvetica Light"/>
              </a:rPr>
              <a:t>Robotmea Ecosystem: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D8CEEA-24F7-D88E-D1F0-2E367465E83E}"/>
              </a:ext>
            </a:extLst>
          </p:cNvPr>
          <p:cNvSpPr/>
          <p:nvPr/>
        </p:nvSpPr>
        <p:spPr>
          <a:xfrm>
            <a:off x="278742" y="1658051"/>
            <a:ext cx="7572485" cy="2663910"/>
          </a:xfrm>
          <a:prstGeom prst="rect">
            <a:avLst/>
          </a:prstGeom>
        </p:spPr>
        <p:txBody>
          <a:bodyPr wrap="square" lIns="129965" tIns="64980" rIns="129965" bIns="6498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1. Institute for Edtech Research, Development &amp; Growth (IERDG):</a:t>
            </a:r>
          </a:p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It’s the </a:t>
            </a:r>
            <a:r>
              <a:rPr lang="en-US" b="1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Pakistan's first international EdTech research platform</a:t>
            </a: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, launched with our international partner </a:t>
            </a:r>
            <a:r>
              <a:rPr lang="en-US" kern="0" dirty="0" err="1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Robotron</a:t>
            </a: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 (South Korea) for </a:t>
            </a:r>
            <a:r>
              <a:rPr lang="en-US" b="1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popularizing EdTech</a:t>
            </a: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 and fostering a culture of technology-enabled learning across Pakistan’s educational landscape.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D94E58-5A04-7F1F-B086-22DCC383B92E}"/>
              </a:ext>
            </a:extLst>
          </p:cNvPr>
          <p:cNvSpPr txBox="1"/>
          <p:nvPr/>
        </p:nvSpPr>
        <p:spPr>
          <a:xfrm>
            <a:off x="8309825" y="456135"/>
            <a:ext cx="38821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Montserrat" pitchFamily="50" charset="0"/>
              </a:rPr>
              <a:t>Transforming the Future of Youth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67B927-1D20-0BA0-5D7D-C9D487B69745}"/>
              </a:ext>
            </a:extLst>
          </p:cNvPr>
          <p:cNvSpPr/>
          <p:nvPr/>
        </p:nvSpPr>
        <p:spPr>
          <a:xfrm>
            <a:off x="278745" y="4194296"/>
            <a:ext cx="7572482" cy="2248219"/>
          </a:xfrm>
          <a:prstGeom prst="rect">
            <a:avLst/>
          </a:prstGeom>
        </p:spPr>
        <p:txBody>
          <a:bodyPr wrap="square" lIns="129965" tIns="64980" rIns="129965" bIns="6498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2. Communication, Outreach &amp; Public Relation Nexus (COPR Nexus):</a:t>
            </a:r>
          </a:p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It serves as a central platform for </a:t>
            </a:r>
            <a:r>
              <a:rPr lang="en-US" b="1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promoting innovation, building strategic partnerships, enhancing brand visibility, and amplifying the impact of educational transformation initiatives.</a:t>
            </a:r>
            <a:endParaRPr lang="en-US" kern="0" dirty="0">
              <a:solidFill>
                <a:sysClr val="windowText" lastClr="000000"/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819D6DE-1D1A-4043-C207-65AE8FA6FB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7708205"/>
              </p:ext>
            </p:extLst>
          </p:nvPr>
        </p:nvGraphicFramePr>
        <p:xfrm>
          <a:off x="7521935" y="1658051"/>
          <a:ext cx="4670065" cy="44824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69386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2B200-A8E2-6F74-1088-1FA767271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1B4AC7B-3F5A-F20F-F646-1B33D5BE4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44" y="272268"/>
            <a:ext cx="1902482" cy="632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FD8A7B-23A7-3415-6B9A-0C7009143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275" y="0"/>
            <a:ext cx="276225" cy="1619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25D77E-5AB5-53AD-7AFA-5A59DDF703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723017"/>
            <a:ext cx="12192000" cy="134983"/>
          </a:xfrm>
          <a:prstGeom prst="rect">
            <a:avLst/>
          </a:prstGeom>
          <a:solidFill>
            <a:srgbClr val="FF8809"/>
          </a:solidFill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B8E562-1FDA-CFBA-CC17-8DE51BDB7C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743" y="978967"/>
            <a:ext cx="11690344" cy="965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7DB1CFA-C0B1-7CAF-261F-92989C61EF9F}"/>
              </a:ext>
            </a:extLst>
          </p:cNvPr>
          <p:cNvSpPr txBox="1"/>
          <p:nvPr/>
        </p:nvSpPr>
        <p:spPr>
          <a:xfrm>
            <a:off x="278743" y="1133730"/>
            <a:ext cx="11340442" cy="5334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rot="0" spcFirstLastPara="1" vertOverflow="overflow" horzOverflow="overflow" vert="horz" wrap="square" lIns="50777" tIns="50777" rIns="50777" bIns="50777" numCol="1" spcCol="38084" rtlCol="0" anchor="ctr">
            <a:spAutoFit/>
          </a:bodyPr>
          <a:lstStyle/>
          <a:p>
            <a:pPr lvl="0" defTabSz="584200" latinLnBrk="1" hangingPunct="0"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sym typeface="Helvetica Light"/>
              </a:rPr>
              <a:t>Institute for </a:t>
            </a:r>
            <a:r>
              <a:rPr lang="en-US" sz="2800" b="1" kern="0" dirty="0">
                <a:solidFill>
                  <a:prstClr val="black"/>
                </a:solidFill>
                <a:latin typeface="Century Gothic" panose="020B0502020202020204" pitchFamily="34" charset="0"/>
                <a:sym typeface="Helvetica Light"/>
              </a:rPr>
              <a:t>Edtech Research, Development &amp;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sym typeface="Helvetica Light"/>
              </a:rPr>
              <a:t>Growth (IERDG):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4BFF51-60AF-BFC3-8E2C-5E91B2C16BF2}"/>
              </a:ext>
            </a:extLst>
          </p:cNvPr>
          <p:cNvSpPr/>
          <p:nvPr/>
        </p:nvSpPr>
        <p:spPr>
          <a:xfrm>
            <a:off x="278742" y="1551496"/>
            <a:ext cx="6784210" cy="2571577"/>
          </a:xfrm>
          <a:prstGeom prst="rect">
            <a:avLst/>
          </a:prstGeom>
        </p:spPr>
        <p:txBody>
          <a:bodyPr wrap="square" lIns="129965" tIns="64980" rIns="129965" bIns="6498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A research and innovation hub advancing EdTech across Pakistan and beyond.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Research &amp; development in emerging learning technologies.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Academic collaborations, publications &amp; strategic partnerships and international certifications.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1168B4-3F9F-5B92-03B2-CF2FD52788C0}"/>
              </a:ext>
            </a:extLst>
          </p:cNvPr>
          <p:cNvSpPr txBox="1"/>
          <p:nvPr/>
        </p:nvSpPr>
        <p:spPr>
          <a:xfrm>
            <a:off x="8309825" y="456135"/>
            <a:ext cx="38821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Montserrat" pitchFamily="50" charset="0"/>
              </a:rPr>
              <a:t>Transforming the Future of Youth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A189DD2-F21B-6B62-D41B-44870E883F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1196" y="3675473"/>
            <a:ext cx="2758964" cy="275896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0F72960-4AB6-7945-8DEE-C26AEDA1B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076" y="1915723"/>
            <a:ext cx="2554011" cy="8497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4F07382-FFCD-9B9A-95F5-65937DA3B6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58722" y="1327552"/>
            <a:ext cx="2054535" cy="2054535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25A26FA5-C60A-76E0-9473-41DB5429E56C}"/>
              </a:ext>
            </a:extLst>
          </p:cNvPr>
          <p:cNvSpPr/>
          <p:nvPr/>
        </p:nvSpPr>
        <p:spPr>
          <a:xfrm rot="3017141">
            <a:off x="7796032" y="2905381"/>
            <a:ext cx="1250750" cy="6166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CD57437-BB75-0E95-95B6-781607AF6142}"/>
              </a:ext>
            </a:extLst>
          </p:cNvPr>
          <p:cNvSpPr/>
          <p:nvPr/>
        </p:nvSpPr>
        <p:spPr>
          <a:xfrm rot="8338190">
            <a:off x="9907507" y="2970635"/>
            <a:ext cx="1250750" cy="6166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B491F2-BBAF-B12E-BFEF-99DC537F05EA}"/>
              </a:ext>
            </a:extLst>
          </p:cNvPr>
          <p:cNvSpPr/>
          <p:nvPr/>
        </p:nvSpPr>
        <p:spPr>
          <a:xfrm>
            <a:off x="294507" y="4052469"/>
            <a:ext cx="7532018" cy="2571577"/>
          </a:xfrm>
          <a:prstGeom prst="rect">
            <a:avLst/>
          </a:prstGeom>
        </p:spPr>
        <p:txBody>
          <a:bodyPr wrap="square" lIns="129965" tIns="64980" rIns="129965" bIns="6498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IERDG comprises of the following programs: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K-12 Program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Education Transformational Movement (ETM)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Robotmea Emerging Technology Center (RETC)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Faculty Development Cell (FDC)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International Diploma Program (IDP)</a:t>
            </a:r>
          </a:p>
        </p:txBody>
      </p:sp>
    </p:spTree>
    <p:extLst>
      <p:ext uri="{BB962C8B-B14F-4D97-AF65-F5344CB8AC3E}">
        <p14:creationId xmlns:p14="http://schemas.microsoft.com/office/powerpoint/2010/main" val="2207680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99E8A-2A4B-2D64-55FE-404317B3B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5AB8FB0-6FD5-8571-F99A-99FE4F225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44" y="272268"/>
            <a:ext cx="1902482" cy="632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ACE237-3FC7-5F8E-80C0-0741F2045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275" y="0"/>
            <a:ext cx="276225" cy="1619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5E20F3-70C0-BC35-E5AE-83F1A89681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723017"/>
            <a:ext cx="12192000" cy="134983"/>
          </a:xfrm>
          <a:prstGeom prst="rect">
            <a:avLst/>
          </a:prstGeom>
          <a:solidFill>
            <a:srgbClr val="FF8809"/>
          </a:solidFill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C636BE9-70F6-CEDA-C793-7D241DB30E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743" y="978967"/>
            <a:ext cx="11690344" cy="965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7577704-CD53-F306-8D8D-2DC0322E6E14}"/>
              </a:ext>
            </a:extLst>
          </p:cNvPr>
          <p:cNvSpPr txBox="1"/>
          <p:nvPr/>
        </p:nvSpPr>
        <p:spPr>
          <a:xfrm>
            <a:off x="278743" y="1297661"/>
            <a:ext cx="10655294" cy="5334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rot="0" spcFirstLastPara="1" vertOverflow="overflow" horzOverflow="overflow" vert="horz" wrap="square" lIns="50777" tIns="50777" rIns="50777" bIns="50777" numCol="1" spcCol="38084" rtlCol="0" anchor="ctr">
            <a:spAutoFit/>
          </a:bodyPr>
          <a:lstStyle/>
          <a:p>
            <a:pPr lvl="0" defTabSz="584200" latinLnBrk="1" hangingPunct="0"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sym typeface="Helvetica Light"/>
              </a:rPr>
              <a:t>1. K-12 Program: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99C39-EBA6-4C14-0EFD-4394A3007F93}"/>
              </a:ext>
            </a:extLst>
          </p:cNvPr>
          <p:cNvSpPr/>
          <p:nvPr/>
        </p:nvSpPr>
        <p:spPr>
          <a:xfrm>
            <a:off x="278742" y="1893106"/>
            <a:ext cx="11135491" cy="4649069"/>
          </a:xfrm>
          <a:prstGeom prst="rect">
            <a:avLst/>
          </a:prstGeom>
        </p:spPr>
        <p:txBody>
          <a:bodyPr wrap="square" lIns="129965" tIns="64980" rIns="129965" bIns="64980">
            <a:spAutoFit/>
          </a:bodyPr>
          <a:lstStyle/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A complete transformation initiative preparing schools for the future of learning.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Brings AI, Robotics, IoT, AR/VR, Astronomy, STEAM Education, emerging technologies &amp; Entrepreneurship into existing curricula.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360-degree turnkey solutions for the schools to transform their educational landscape.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Two pathways: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Addition Model.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Integration Model.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Discovery &amp; Innovation Hubs, faculty development, internationally aligned curriculum, monitoring and evaluation, refresher training and ongoing support throughout the program.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Builds creativity, critical thinking, problem-solving, communication skillset development &amp; leadership.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5B0E7E-58F5-B13C-343F-BBE5912CB1C1}"/>
              </a:ext>
            </a:extLst>
          </p:cNvPr>
          <p:cNvSpPr txBox="1"/>
          <p:nvPr/>
        </p:nvSpPr>
        <p:spPr>
          <a:xfrm>
            <a:off x="8309825" y="456135"/>
            <a:ext cx="38821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Montserrat" pitchFamily="50" charset="0"/>
              </a:rPr>
              <a:t>Transforming the Future of Youth</a:t>
            </a:r>
          </a:p>
        </p:txBody>
      </p:sp>
    </p:spTree>
    <p:extLst>
      <p:ext uri="{BB962C8B-B14F-4D97-AF65-F5344CB8AC3E}">
        <p14:creationId xmlns:p14="http://schemas.microsoft.com/office/powerpoint/2010/main" val="1650990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34ED1-FA94-E7B2-96EE-832FE0ADF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29BFBC5-67F2-C406-205B-90A71F0DF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44" y="272268"/>
            <a:ext cx="1902482" cy="632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E04E14-7A9B-52BE-BF3B-1D98D3DBE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275" y="0"/>
            <a:ext cx="276225" cy="1619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30D24D-D204-DEB6-D8A0-AED770F417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723017"/>
            <a:ext cx="12192000" cy="134983"/>
          </a:xfrm>
          <a:prstGeom prst="rect">
            <a:avLst/>
          </a:prstGeom>
          <a:solidFill>
            <a:srgbClr val="FF8809"/>
          </a:solidFill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767A53E-25A4-15BA-04A5-FBF8443945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743" y="978967"/>
            <a:ext cx="11690344" cy="965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0C20F9-DACC-2E4D-64C4-FA36141170A5}"/>
              </a:ext>
            </a:extLst>
          </p:cNvPr>
          <p:cNvSpPr txBox="1"/>
          <p:nvPr/>
        </p:nvSpPr>
        <p:spPr>
          <a:xfrm>
            <a:off x="278743" y="1178536"/>
            <a:ext cx="10655294" cy="5334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rot="0" spcFirstLastPara="1" vertOverflow="overflow" horzOverflow="overflow" vert="horz" wrap="square" lIns="50777" tIns="50777" rIns="50777" bIns="50777" numCol="1" spcCol="38084" rtlCol="0" anchor="ctr">
            <a:spAutoFit/>
          </a:bodyPr>
          <a:lstStyle/>
          <a:p>
            <a:pPr lvl="0" defTabSz="584200" latinLnBrk="1" hangingPunct="0"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sym typeface="Helvetica Light"/>
              </a:rPr>
              <a:t>Addition Model: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0483ED-E133-51AF-DA2C-4612EFB1B565}"/>
              </a:ext>
            </a:extLst>
          </p:cNvPr>
          <p:cNvSpPr/>
          <p:nvPr/>
        </p:nvSpPr>
        <p:spPr>
          <a:xfrm>
            <a:off x="278743" y="1711969"/>
            <a:ext cx="4228777" cy="4840211"/>
          </a:xfrm>
          <a:prstGeom prst="rect">
            <a:avLst/>
          </a:prstGeom>
        </p:spPr>
        <p:txBody>
          <a:bodyPr wrap="square" lIns="129965" tIns="64980" rIns="129965" bIns="6498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Addition of AI, Robotics &amp; Coding with STEAM educational framework in existing curriculum.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Development of AI, Robotics and STEAM Lab.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Provision of AI, Robotics and STEAM curriculum.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Training of Teachers &amp; M&amp;E.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Implementable from K–12.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Future-focused learning without modifying Schools’ current academic 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Develop technological literacy, innovation, creativity, and problem-solving skills through hands-on experiences and project-based learning.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EBCB2E-6C7E-6F60-3D5D-AF589F3F51C4}"/>
              </a:ext>
            </a:extLst>
          </p:cNvPr>
          <p:cNvSpPr txBox="1"/>
          <p:nvPr/>
        </p:nvSpPr>
        <p:spPr>
          <a:xfrm>
            <a:off x="8309825" y="456135"/>
            <a:ext cx="38821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Montserrat" pitchFamily="50" charset="0"/>
              </a:rPr>
              <a:t>Transforming the Future of Youth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1A6712-A8BA-2E64-78E2-C8C98DE85D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9041" y="1007699"/>
            <a:ext cx="7461567" cy="587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99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13332-3349-ACD8-DA32-A03335425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95C195A-1BB3-9060-585B-A9CC1B4A488A}"/>
              </a:ext>
            </a:extLst>
          </p:cNvPr>
          <p:cNvSpPr/>
          <p:nvPr/>
        </p:nvSpPr>
        <p:spPr>
          <a:xfrm>
            <a:off x="5627204" y="1088947"/>
            <a:ext cx="5451459" cy="54816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41608F-8C50-8FB9-3F68-FB254FFDA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125" y="669939"/>
            <a:ext cx="5826931" cy="59425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2C7010-B17C-80B6-480F-16CEDF814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744" y="272268"/>
            <a:ext cx="1902482" cy="632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F812C3-7347-0C0C-75D1-8DFFDFAFC6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275" y="0"/>
            <a:ext cx="276225" cy="1619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B94CEC-ABF4-A7AE-6AA4-8736CA454E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723017"/>
            <a:ext cx="12192000" cy="134983"/>
          </a:xfrm>
          <a:prstGeom prst="rect">
            <a:avLst/>
          </a:prstGeom>
          <a:solidFill>
            <a:srgbClr val="FF8809"/>
          </a:solidFill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C0ACA6-B348-E392-F893-7726969612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743" y="978967"/>
            <a:ext cx="11690344" cy="965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962CE49-D726-7D21-5CBE-5A29F779DA1E}"/>
              </a:ext>
            </a:extLst>
          </p:cNvPr>
          <p:cNvSpPr txBox="1"/>
          <p:nvPr/>
        </p:nvSpPr>
        <p:spPr>
          <a:xfrm>
            <a:off x="278743" y="1373291"/>
            <a:ext cx="10655294" cy="5334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rot="0" spcFirstLastPara="1" vertOverflow="overflow" horzOverflow="overflow" vert="horz" wrap="square" lIns="50777" tIns="50777" rIns="50777" bIns="50777" numCol="1" spcCol="38084" rtlCol="0" anchor="ctr">
            <a:spAutoFit/>
          </a:bodyPr>
          <a:lstStyle/>
          <a:p>
            <a:pPr lvl="0" defTabSz="584200" latinLnBrk="1" hangingPunct="0"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sym typeface="Helvetica Light"/>
              </a:rPr>
              <a:t>Integration Model: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EDDFD0-ACF1-918D-0BD3-9337EBE35706}"/>
              </a:ext>
            </a:extLst>
          </p:cNvPr>
          <p:cNvSpPr/>
          <p:nvPr/>
        </p:nvSpPr>
        <p:spPr>
          <a:xfrm>
            <a:off x="278743" y="1968736"/>
            <a:ext cx="4687396" cy="4286213"/>
          </a:xfrm>
          <a:prstGeom prst="rect">
            <a:avLst/>
          </a:prstGeom>
        </p:spPr>
        <p:txBody>
          <a:bodyPr wrap="square" lIns="129965" tIns="64980" rIns="129965" bIns="6498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Integration of emerging technologies such as AI, Robotics, IoT, AR/VR, etc., with existing curriculum of Science and Mathematics.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Addition of Innovation Boxes to prepare students for advanced AI, IoT and programming.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Tailored integrated curriculum with complete academic planning and guideline.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Learning acceleration and Skillset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Assessment system incorporation.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Robotmea PMT (Robotmea online portal) access.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63EAE1-C638-3D53-38FE-966500B848D5}"/>
              </a:ext>
            </a:extLst>
          </p:cNvPr>
          <p:cNvSpPr txBox="1"/>
          <p:nvPr/>
        </p:nvSpPr>
        <p:spPr>
          <a:xfrm>
            <a:off x="8309825" y="456135"/>
            <a:ext cx="38821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Montserrat" pitchFamily="50" charset="0"/>
              </a:rPr>
              <a:t>Transforming the Future of Youth</a:t>
            </a:r>
          </a:p>
        </p:txBody>
      </p:sp>
    </p:spTree>
    <p:extLst>
      <p:ext uri="{BB962C8B-B14F-4D97-AF65-F5344CB8AC3E}">
        <p14:creationId xmlns:p14="http://schemas.microsoft.com/office/powerpoint/2010/main" val="3570833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1D62A-E32D-76C1-E156-988DB0CC0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8581B34-4F47-DE89-204C-0B5D0F3D0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44" y="272268"/>
            <a:ext cx="1902482" cy="632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0A9AB7-4052-C960-940F-EAEFB6F01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275" y="0"/>
            <a:ext cx="276225" cy="1619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D87976-32CE-A0E2-C32F-9BF77DF42A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723017"/>
            <a:ext cx="12192000" cy="134983"/>
          </a:xfrm>
          <a:prstGeom prst="rect">
            <a:avLst/>
          </a:prstGeom>
          <a:solidFill>
            <a:srgbClr val="FF8809"/>
          </a:solidFill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0F392E-089D-F973-CDD6-87FF1E16CA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743" y="978967"/>
            <a:ext cx="11690344" cy="9656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D168399-A7D0-7863-4682-041F1F005173}"/>
              </a:ext>
            </a:extLst>
          </p:cNvPr>
          <p:cNvSpPr txBox="1"/>
          <p:nvPr/>
        </p:nvSpPr>
        <p:spPr>
          <a:xfrm>
            <a:off x="8309825" y="456135"/>
            <a:ext cx="38821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Montserrat" pitchFamily="50" charset="0"/>
              </a:rPr>
              <a:t>Transforming the Future of Youth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665492A-D2F3-CA12-9776-0C4304F2AA2C}"/>
              </a:ext>
            </a:extLst>
          </p:cNvPr>
          <p:cNvGrpSpPr/>
          <p:nvPr/>
        </p:nvGrpSpPr>
        <p:grpSpPr>
          <a:xfrm>
            <a:off x="2180213" y="700992"/>
            <a:ext cx="7831573" cy="6399854"/>
            <a:chOff x="2609089" y="779994"/>
            <a:chExt cx="7236579" cy="59136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766F80E-AA3F-5E88-6DB6-4FCA247CC3AB}"/>
                </a:ext>
              </a:extLst>
            </p:cNvPr>
            <p:cNvSpPr/>
            <p:nvPr/>
          </p:nvSpPr>
          <p:spPr>
            <a:xfrm>
              <a:off x="4351283" y="2569779"/>
              <a:ext cx="3958542" cy="239635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62404C9-FB78-98C7-0C5A-60226454E76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609089" y="779994"/>
              <a:ext cx="7236579" cy="59136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2207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425CB-CD83-E96A-A140-0EF8556FA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6FE7BFB-88D2-6DE4-A46D-162806883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44" y="272268"/>
            <a:ext cx="1902482" cy="632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8BF1F0-5373-83FB-25FF-8D9D37DC7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275" y="0"/>
            <a:ext cx="276225" cy="1619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E5884A8-D159-C5A7-2C89-D9F1ABAB1F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723017"/>
            <a:ext cx="12192000" cy="134983"/>
          </a:xfrm>
          <a:prstGeom prst="rect">
            <a:avLst/>
          </a:prstGeom>
          <a:solidFill>
            <a:srgbClr val="FF8809"/>
          </a:solidFill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8C4513-17D8-F01C-BC79-6B584AA0A2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743" y="978967"/>
            <a:ext cx="11690344" cy="965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0D390A-0889-8569-EE32-4163B36BD637}"/>
              </a:ext>
            </a:extLst>
          </p:cNvPr>
          <p:cNvSpPr txBox="1"/>
          <p:nvPr/>
        </p:nvSpPr>
        <p:spPr>
          <a:xfrm>
            <a:off x="278743" y="1117936"/>
            <a:ext cx="7225643" cy="964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rot="0" spcFirstLastPara="1" vertOverflow="overflow" horzOverflow="overflow" vert="horz" wrap="square" lIns="50777" tIns="50777" rIns="50777" bIns="50777" numCol="1" spcCol="38084" rtlCol="0" anchor="ctr">
            <a:spAutoFit/>
          </a:bodyPr>
          <a:lstStyle/>
          <a:p>
            <a:pPr lvl="0" defTabSz="584200" latinLnBrk="1" hangingPunct="0"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sym typeface="Helvetica Light"/>
              </a:rPr>
              <a:t>2. Education Transformational Movement (ETM):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B865D2-0D39-54CB-A879-B68AF03FFD35}"/>
              </a:ext>
            </a:extLst>
          </p:cNvPr>
          <p:cNvSpPr/>
          <p:nvPr/>
        </p:nvSpPr>
        <p:spPr>
          <a:xfrm>
            <a:off x="278743" y="1968195"/>
            <a:ext cx="7446360" cy="4649069"/>
          </a:xfrm>
          <a:prstGeom prst="rect">
            <a:avLst/>
          </a:prstGeom>
        </p:spPr>
        <p:txBody>
          <a:bodyPr wrap="square" lIns="129965" tIns="64980" rIns="129965" bIns="64980">
            <a:spAutoFit/>
          </a:bodyPr>
          <a:lstStyle/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Pakistan's first South Korean-based school transformation framework, accredited by </a:t>
            </a:r>
            <a:r>
              <a:rPr lang="en-US" kern="0" dirty="0" err="1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Robotron</a:t>
            </a: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. A 360° turnkey model that shifts schools from transformational to transactional.</a:t>
            </a:r>
          </a:p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• South Korean certified school franchise model. </a:t>
            </a:r>
          </a:p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• SNCP-aligned curriculum. </a:t>
            </a:r>
          </a:p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• No heavy bags, no books, no homework policy.</a:t>
            </a:r>
          </a:p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• AI, Robotics &amp; emerging technology integration. </a:t>
            </a:r>
          </a:p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• Friends of Quran with Arabic subject mandatory and Role               Model Program is also embedded in this school program.</a:t>
            </a:r>
          </a:p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• Leadership &amp; faculty development.</a:t>
            </a:r>
          </a:p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• International accreditation pathways.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BA7C82-B0C2-A985-8383-94B2A0ECF42F}"/>
              </a:ext>
            </a:extLst>
          </p:cNvPr>
          <p:cNvSpPr txBox="1"/>
          <p:nvPr/>
        </p:nvSpPr>
        <p:spPr>
          <a:xfrm>
            <a:off x="8309825" y="456135"/>
            <a:ext cx="38821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Montserrat" pitchFamily="50" charset="0"/>
              </a:rPr>
              <a:t>Transforming the Future of Youth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F28887-DC51-80F6-5EEF-2370B2CFEB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1548" y="1882424"/>
            <a:ext cx="4061709" cy="403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340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BC26C-09EA-4635-89D3-5F897C838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BA2FC67-40D9-F2BF-F8D9-61E2D2DB3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44" y="272268"/>
            <a:ext cx="1902482" cy="632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5C4FE9-6E12-2EFA-A402-AD6118F27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275" y="0"/>
            <a:ext cx="276225" cy="1619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BE4FE8-E4FB-8292-76EF-35545B0846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723017"/>
            <a:ext cx="12192000" cy="134983"/>
          </a:xfrm>
          <a:prstGeom prst="rect">
            <a:avLst/>
          </a:prstGeom>
          <a:solidFill>
            <a:srgbClr val="FF8809"/>
          </a:solidFill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C5029E-D707-1BE3-B910-D2B04AEFDC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743" y="978967"/>
            <a:ext cx="11690344" cy="965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033635-75AA-0F8E-1509-34B50453A42B}"/>
              </a:ext>
            </a:extLst>
          </p:cNvPr>
          <p:cNvSpPr txBox="1"/>
          <p:nvPr/>
        </p:nvSpPr>
        <p:spPr>
          <a:xfrm>
            <a:off x="278743" y="1103070"/>
            <a:ext cx="6169354" cy="964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rot="0" spcFirstLastPara="1" vertOverflow="overflow" horzOverflow="overflow" vert="horz" wrap="square" lIns="50777" tIns="50777" rIns="50777" bIns="50777" numCol="1" spcCol="38084" rtlCol="0" anchor="ctr">
            <a:spAutoFit/>
          </a:bodyPr>
          <a:lstStyle/>
          <a:p>
            <a:pPr lvl="0" defTabSz="584200" latinLnBrk="1" hangingPunct="0"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sym typeface="Helvetica Light"/>
              </a:rPr>
              <a:t>3. Robotmea Emerging Technology Center (RETC):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5C3FA0-1B0E-D326-3B1F-A26760B282CA}"/>
              </a:ext>
            </a:extLst>
          </p:cNvPr>
          <p:cNvSpPr/>
          <p:nvPr/>
        </p:nvSpPr>
        <p:spPr>
          <a:xfrm>
            <a:off x="278743" y="2002234"/>
            <a:ext cx="6344385" cy="4649069"/>
          </a:xfrm>
          <a:prstGeom prst="rect">
            <a:avLst/>
          </a:prstGeom>
        </p:spPr>
        <p:txBody>
          <a:bodyPr wrap="square" lIns="129965" tIns="64980" rIns="129965" bIns="64980">
            <a:spAutoFit/>
          </a:bodyPr>
          <a:lstStyle/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A state-of-the-art hub bridging education, research and industry academia gap. </a:t>
            </a:r>
          </a:p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• Emerging technologies training (AI, Robotics, IoT, AR/VR, Coding, cyber security, Automation, etc.). </a:t>
            </a:r>
          </a:p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• Research &amp; innovation. </a:t>
            </a:r>
          </a:p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• 3 – 6 months courses.</a:t>
            </a:r>
          </a:p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• Offering 23 courses in Lahore, CETC.</a:t>
            </a:r>
          </a:p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• Industry-aligned skill development. </a:t>
            </a:r>
          </a:p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• Technology incubation &amp; prototyping. </a:t>
            </a:r>
          </a:p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• Certifications &amp; professional development. </a:t>
            </a:r>
          </a:p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• Innovation challenges &amp; competitions.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8BED8F-C2BF-01F5-9CAD-0639FE6C5B23}"/>
              </a:ext>
            </a:extLst>
          </p:cNvPr>
          <p:cNvSpPr txBox="1"/>
          <p:nvPr/>
        </p:nvSpPr>
        <p:spPr>
          <a:xfrm>
            <a:off x="8309825" y="456135"/>
            <a:ext cx="38821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Montserrat" pitchFamily="50" charset="0"/>
              </a:rPr>
              <a:t>Transforming the Future of Youth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B696AD-079D-B15B-900D-83D45B9ABC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6606" y="1222882"/>
            <a:ext cx="2401113" cy="18008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B32ED2-4D84-1635-562C-16A5777762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170" y="4313256"/>
            <a:ext cx="2993152" cy="22448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8E590B-F187-4446-9A21-69108DB736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8412" y="2188678"/>
            <a:ext cx="2612910" cy="19596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4EFB42F-150B-8A9E-7AFA-1F3ADBC4A9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86606" y="3215297"/>
            <a:ext cx="2382481" cy="317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05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6BE6E-A692-12C9-4E9D-F4827B6E2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304EB64-C8B5-0FC1-845E-A852CF517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44" y="272268"/>
            <a:ext cx="1902482" cy="632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537051-61FD-6F66-1C7D-87BA6F0D2E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275" y="0"/>
            <a:ext cx="276225" cy="1619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4232F3-1F40-B40E-2ECF-6E9B6C9E46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723017"/>
            <a:ext cx="12192000" cy="134983"/>
          </a:xfrm>
          <a:prstGeom prst="rect">
            <a:avLst/>
          </a:prstGeom>
          <a:solidFill>
            <a:srgbClr val="FF8809"/>
          </a:solidFill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47F949-1D59-15B2-8746-F04ADE55BB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743" y="978967"/>
            <a:ext cx="11690344" cy="965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C32B72-AF17-38E8-CAC0-D3F0BA344558}"/>
              </a:ext>
            </a:extLst>
          </p:cNvPr>
          <p:cNvSpPr txBox="1"/>
          <p:nvPr/>
        </p:nvSpPr>
        <p:spPr>
          <a:xfrm>
            <a:off x="278743" y="1248839"/>
            <a:ext cx="6263947" cy="5334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rot="0" spcFirstLastPara="1" vertOverflow="overflow" horzOverflow="overflow" vert="horz" wrap="square" lIns="50777" tIns="50777" rIns="50777" bIns="50777" numCol="1" spcCol="38084" rtlCol="0" anchor="ctr">
            <a:spAutoFit/>
          </a:bodyPr>
          <a:lstStyle/>
          <a:p>
            <a:pPr lvl="0" defTabSz="584200" latinLnBrk="1" hangingPunct="0"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sym typeface="Helvetica Light"/>
              </a:rPr>
              <a:t>4. Faculty Development Cell (FDC):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2988C6-1E19-59E5-B5DE-F001C7CE7D22}"/>
              </a:ext>
            </a:extLst>
          </p:cNvPr>
          <p:cNvSpPr/>
          <p:nvPr/>
        </p:nvSpPr>
        <p:spPr>
          <a:xfrm>
            <a:off x="278743" y="1778021"/>
            <a:ext cx="5964403" cy="4649069"/>
          </a:xfrm>
          <a:prstGeom prst="rect">
            <a:avLst/>
          </a:prstGeom>
        </p:spPr>
        <p:txBody>
          <a:bodyPr wrap="square" lIns="129965" tIns="64980" rIns="129965" bIns="64980">
            <a:spAutoFit/>
          </a:bodyPr>
          <a:lstStyle/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Empowering educators and school leaders with 21st-century teaching skills. </a:t>
            </a:r>
          </a:p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• Teacher training &amp; professional development. </a:t>
            </a:r>
          </a:p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• Educational leadership programs. </a:t>
            </a:r>
          </a:p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• AI, Robotics, STEAM education &amp; emerging technologies. </a:t>
            </a:r>
          </a:p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• Curriculum &amp; assessment innovation. </a:t>
            </a:r>
          </a:p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• International certifications and recognition. </a:t>
            </a:r>
          </a:p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• Continuous Professional Development (CPD).</a:t>
            </a:r>
          </a:p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• International learning and development program and courses.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92A7A5-2F85-5D08-3D66-0C003A5D7F9E}"/>
              </a:ext>
            </a:extLst>
          </p:cNvPr>
          <p:cNvSpPr txBox="1"/>
          <p:nvPr/>
        </p:nvSpPr>
        <p:spPr>
          <a:xfrm>
            <a:off x="8309825" y="456135"/>
            <a:ext cx="38821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Montserrat" pitchFamily="50" charset="0"/>
              </a:rPr>
              <a:t>Transforming the Future of Youth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76201C-33E9-DDB1-78D5-DCED75DAFF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4347" y="1326058"/>
            <a:ext cx="5049209" cy="503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498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2164C-C405-B01C-24BB-C65B924A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2B2D30-5538-35F6-08CD-460F4D6C0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44" y="272268"/>
            <a:ext cx="1902482" cy="632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73A4FB-31F0-CBE8-D1FF-C6AC3E4F7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275" y="0"/>
            <a:ext cx="276225" cy="1619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1457391-070B-279E-07A8-1E3E15DFF1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723017"/>
            <a:ext cx="12192000" cy="134983"/>
          </a:xfrm>
          <a:prstGeom prst="rect">
            <a:avLst/>
          </a:prstGeom>
          <a:solidFill>
            <a:srgbClr val="FF8809"/>
          </a:solidFill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278F3D-113F-B45A-636C-31429FA148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743" y="978967"/>
            <a:ext cx="11690344" cy="965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D94041-2B78-5393-6479-FC0857D0A2B2}"/>
              </a:ext>
            </a:extLst>
          </p:cNvPr>
          <p:cNvSpPr txBox="1"/>
          <p:nvPr/>
        </p:nvSpPr>
        <p:spPr>
          <a:xfrm>
            <a:off x="278743" y="1625512"/>
            <a:ext cx="5817257" cy="964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rot="0" spcFirstLastPara="1" vertOverflow="overflow" horzOverflow="overflow" vert="horz" wrap="square" lIns="50777" tIns="50777" rIns="50777" bIns="50777" numCol="1" spcCol="38084" rtlCol="0" anchor="ctr">
            <a:spAutoFit/>
          </a:bodyPr>
          <a:lstStyle/>
          <a:p>
            <a:pPr lvl="0" defTabSz="584200" latinLnBrk="1" hangingPunct="0"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sym typeface="Helvetica Light"/>
              </a:rPr>
              <a:t>5. International Diploma Program (IDP):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7F6C26-0D2A-8475-4409-1470757EAED8}"/>
              </a:ext>
            </a:extLst>
          </p:cNvPr>
          <p:cNvSpPr/>
          <p:nvPr/>
        </p:nvSpPr>
        <p:spPr>
          <a:xfrm>
            <a:off x="278743" y="2622636"/>
            <a:ext cx="6547725" cy="3402574"/>
          </a:xfrm>
          <a:prstGeom prst="rect">
            <a:avLst/>
          </a:prstGeom>
        </p:spPr>
        <p:txBody>
          <a:bodyPr wrap="square" lIns="129965" tIns="64980" rIns="129965" bIns="64980">
            <a:spAutoFit/>
          </a:bodyPr>
          <a:lstStyle/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Globally aligned certifications in emerging fields — 3 months to 3 years. </a:t>
            </a:r>
          </a:p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• Programs in AI, Robotics, IoT, Data Science, Cybersecurity, EdTech, STEAM and emerging technologies. </a:t>
            </a:r>
          </a:p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• Theory + hands-on practical application. </a:t>
            </a:r>
          </a:p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• Globally recognized competencies. </a:t>
            </a:r>
          </a:p>
          <a:p>
            <a:pPr>
              <a:lnSpc>
                <a:spcPct val="150000"/>
              </a:lnSpc>
            </a:pPr>
            <a:r>
              <a:rPr lang="en-US" kern="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• Clear academic &amp; career advancement pathways.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902B80-51EF-2201-B67C-A2E9981B4149}"/>
              </a:ext>
            </a:extLst>
          </p:cNvPr>
          <p:cNvSpPr txBox="1"/>
          <p:nvPr/>
        </p:nvSpPr>
        <p:spPr>
          <a:xfrm>
            <a:off x="8309825" y="456135"/>
            <a:ext cx="38821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Montserrat" pitchFamily="50" charset="0"/>
              </a:rPr>
              <a:t>Transforming the Future of Youth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A066E0-FEB1-1379-23A0-4F4D0C13DA1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4222" t="5632" r="14826" b="24086"/>
          <a:stretch>
            <a:fillRect/>
          </a:stretch>
        </p:blipFill>
        <p:spPr>
          <a:xfrm>
            <a:off x="7255816" y="1801774"/>
            <a:ext cx="4241010" cy="420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994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0280" y="3740303"/>
            <a:ext cx="2030983" cy="132937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38407" y="3516710"/>
            <a:ext cx="2351268" cy="17174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50937" y="2827659"/>
            <a:ext cx="1775721" cy="23643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55648" y="3516710"/>
            <a:ext cx="1877488" cy="161541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149216" y="6173304"/>
            <a:ext cx="2296795" cy="13970"/>
          </a:xfrm>
          <a:custGeom>
            <a:avLst/>
            <a:gdLst/>
            <a:ahLst/>
            <a:cxnLst/>
            <a:rect l="l" t="t" r="r" b="b"/>
            <a:pathLst>
              <a:path w="2296795" h="13970">
                <a:moveTo>
                  <a:pt x="2296668" y="0"/>
                </a:moveTo>
                <a:lnTo>
                  <a:pt x="0" y="0"/>
                </a:lnTo>
                <a:lnTo>
                  <a:pt x="0" y="13716"/>
                </a:lnTo>
                <a:lnTo>
                  <a:pt x="2296668" y="13716"/>
                </a:lnTo>
                <a:lnTo>
                  <a:pt x="22966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755648" y="5373284"/>
            <a:ext cx="8793480" cy="1173976"/>
          </a:xfrm>
          <a:prstGeom prst="rect">
            <a:avLst/>
          </a:prstGeom>
          <a:ln w="9144">
            <a:solidFill>
              <a:srgbClr val="0AAAD3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366395" marR="358140" algn="ctr">
              <a:lnSpc>
                <a:spcPct val="100000"/>
              </a:lnSpc>
              <a:spcBef>
                <a:spcPts val="325"/>
              </a:spcBef>
            </a:pPr>
            <a:r>
              <a:rPr lang="en-US" sz="1800" spc="55" dirty="0">
                <a:latin typeface="Century Gothic" panose="020B0502020202020204" pitchFamily="34" charset="0"/>
                <a:cs typeface="Verdana" panose="020B0604030504040204"/>
              </a:rPr>
              <a:t>Corporate Office Address</a:t>
            </a:r>
            <a:r>
              <a:rPr lang="en-US" sz="1800" spc="-75" dirty="0">
                <a:latin typeface="Century Gothic" panose="020B0502020202020204" pitchFamily="34" charset="0"/>
                <a:cs typeface="Verdana" panose="020B0604030504040204"/>
              </a:rPr>
              <a:t>:</a:t>
            </a:r>
            <a:r>
              <a:rPr lang="en-US" sz="1800" spc="-135" dirty="0">
                <a:latin typeface="Century Gothic" panose="020B0502020202020204" pitchFamily="34" charset="0"/>
                <a:cs typeface="Verdana" panose="020B0604030504040204"/>
              </a:rPr>
              <a:t> </a:t>
            </a:r>
            <a:r>
              <a:rPr lang="en-US" sz="1800" spc="20" dirty="0">
                <a:latin typeface="Century Gothic" panose="020B0502020202020204" pitchFamily="34" charset="0"/>
                <a:cs typeface="Verdana" panose="020B0604030504040204"/>
              </a:rPr>
              <a:t>Robotmea</a:t>
            </a:r>
            <a:r>
              <a:rPr lang="en-US" sz="1800" spc="-145" dirty="0">
                <a:latin typeface="Century Gothic" panose="020B0502020202020204" pitchFamily="34" charset="0"/>
                <a:cs typeface="Verdana" panose="020B0604030504040204"/>
              </a:rPr>
              <a:t> </a:t>
            </a:r>
            <a:r>
              <a:rPr lang="en-US" sz="1800" spc="5" dirty="0" err="1">
                <a:latin typeface="Century Gothic" panose="020B0502020202020204" pitchFamily="34" charset="0"/>
                <a:cs typeface="Verdana" panose="020B0604030504040204"/>
              </a:rPr>
              <a:t>Edutech</a:t>
            </a:r>
            <a:r>
              <a:rPr lang="en-US" sz="1800" spc="-85" dirty="0">
                <a:latin typeface="Century Gothic" panose="020B0502020202020204" pitchFamily="34" charset="0"/>
                <a:cs typeface="Verdana" panose="020B0604030504040204"/>
              </a:rPr>
              <a:t> </a:t>
            </a:r>
            <a:r>
              <a:rPr lang="en-US" sz="1800" spc="15" dirty="0">
                <a:latin typeface="Century Gothic" panose="020B0502020202020204" pitchFamily="34" charset="0"/>
                <a:cs typeface="Verdana" panose="020B0604030504040204"/>
              </a:rPr>
              <a:t>Corporate</a:t>
            </a:r>
            <a:r>
              <a:rPr lang="en-US" sz="1800" spc="-135" dirty="0">
                <a:latin typeface="Century Gothic" panose="020B0502020202020204" pitchFamily="34" charset="0"/>
                <a:cs typeface="Verdana" panose="020B0604030504040204"/>
              </a:rPr>
              <a:t> </a:t>
            </a:r>
            <a:r>
              <a:rPr lang="en-US" sz="1800" spc="5" dirty="0">
                <a:latin typeface="Century Gothic" panose="020B0502020202020204" pitchFamily="34" charset="0"/>
                <a:cs typeface="Verdana" panose="020B0604030504040204"/>
              </a:rPr>
              <a:t>Office,</a:t>
            </a:r>
            <a:r>
              <a:rPr lang="en-US" sz="1800" spc="-155" dirty="0">
                <a:latin typeface="Century Gothic" panose="020B0502020202020204" pitchFamily="34" charset="0"/>
                <a:cs typeface="Verdana" panose="020B0604030504040204"/>
              </a:rPr>
              <a:t> Plot #1, Street #1, </a:t>
            </a:r>
            <a:r>
              <a:rPr lang="en-US" sz="1800" spc="-95" dirty="0">
                <a:latin typeface="Century Gothic" panose="020B0502020202020204" pitchFamily="34" charset="0"/>
                <a:cs typeface="Verdana" panose="020B0604030504040204"/>
              </a:rPr>
              <a:t>Paris</a:t>
            </a:r>
            <a:r>
              <a:rPr lang="en-US" sz="1800" spc="-165" dirty="0">
                <a:latin typeface="Century Gothic" panose="020B0502020202020204" pitchFamily="34" charset="0"/>
                <a:cs typeface="Verdana" panose="020B0604030504040204"/>
              </a:rPr>
              <a:t> </a:t>
            </a:r>
            <a:r>
              <a:rPr lang="en-US" sz="1800" spc="-60" dirty="0">
                <a:latin typeface="Century Gothic" panose="020B0502020202020204" pitchFamily="34" charset="0"/>
                <a:cs typeface="Verdana" panose="020B0604030504040204"/>
              </a:rPr>
              <a:t>City,</a:t>
            </a:r>
            <a:r>
              <a:rPr lang="en-US" sz="1800" spc="-160" dirty="0">
                <a:latin typeface="Century Gothic" panose="020B0502020202020204" pitchFamily="34" charset="0"/>
                <a:cs typeface="Verdana" panose="020B0604030504040204"/>
              </a:rPr>
              <a:t> </a:t>
            </a:r>
            <a:r>
              <a:rPr lang="en-US" sz="1800" spc="-40" dirty="0">
                <a:latin typeface="Century Gothic" panose="020B0502020202020204" pitchFamily="34" charset="0"/>
                <a:cs typeface="Verdana" panose="020B0604030504040204"/>
              </a:rPr>
              <a:t>Block</a:t>
            </a:r>
            <a:r>
              <a:rPr lang="en-US" sz="1800" spc="-155" dirty="0">
                <a:latin typeface="Century Gothic" panose="020B0502020202020204" pitchFamily="34" charset="0"/>
                <a:cs typeface="Verdana" panose="020B0604030504040204"/>
              </a:rPr>
              <a:t> </a:t>
            </a:r>
            <a:r>
              <a:rPr lang="en-US" sz="1800" spc="-160" dirty="0">
                <a:latin typeface="Century Gothic" panose="020B0502020202020204" pitchFamily="34" charset="0"/>
                <a:cs typeface="Verdana" panose="020B0604030504040204"/>
              </a:rPr>
              <a:t>F,  Sector H-13, </a:t>
            </a:r>
            <a:r>
              <a:rPr lang="en-US" spc="-160" dirty="0">
                <a:latin typeface="Century Gothic" panose="020B0502020202020204" pitchFamily="34" charset="0"/>
                <a:cs typeface="Verdana" panose="020B0604030504040204"/>
              </a:rPr>
              <a:t>Islamabad, Pakistan</a:t>
            </a:r>
          </a:p>
          <a:p>
            <a:pPr marL="366395" marR="358140" algn="ctr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Century Gothic" panose="020B0502020202020204" pitchFamily="34" charset="0"/>
                <a:cs typeface="Verdana" panose="020B0604030504040204"/>
              </a:rPr>
              <a:t>L</a:t>
            </a:r>
            <a:r>
              <a:rPr sz="1800" spc="-25" dirty="0">
                <a:latin typeface="Century Gothic" panose="020B0502020202020204" pitchFamily="34" charset="0"/>
                <a:cs typeface="Verdana" panose="020B0604030504040204"/>
              </a:rPr>
              <a:t>a</a:t>
            </a:r>
            <a:r>
              <a:rPr sz="1800" spc="-50" dirty="0">
                <a:latin typeface="Century Gothic" panose="020B0502020202020204" pitchFamily="34" charset="0"/>
                <a:cs typeface="Verdana" panose="020B0604030504040204"/>
              </a:rPr>
              <a:t>n</a:t>
            </a:r>
            <a:r>
              <a:rPr sz="1800" spc="-20" dirty="0">
                <a:latin typeface="Century Gothic" panose="020B0502020202020204" pitchFamily="34" charset="0"/>
                <a:cs typeface="Verdana" panose="020B0604030504040204"/>
              </a:rPr>
              <a:t>d</a:t>
            </a:r>
            <a:r>
              <a:rPr sz="1800" dirty="0">
                <a:latin typeface="Century Gothic" panose="020B0502020202020204" pitchFamily="34" charset="0"/>
                <a:cs typeface="Verdana" panose="020B0604030504040204"/>
              </a:rPr>
              <a:t>l</a:t>
            </a:r>
            <a:r>
              <a:rPr sz="1800" spc="-114" dirty="0">
                <a:latin typeface="Century Gothic" panose="020B0502020202020204" pitchFamily="34" charset="0"/>
                <a:cs typeface="Verdana" panose="020B0604030504040204"/>
              </a:rPr>
              <a:t>i</a:t>
            </a:r>
            <a:r>
              <a:rPr sz="1800" spc="-50" dirty="0">
                <a:latin typeface="Century Gothic" panose="020B0502020202020204" pitchFamily="34" charset="0"/>
                <a:cs typeface="Verdana" panose="020B0604030504040204"/>
              </a:rPr>
              <a:t>n</a:t>
            </a:r>
            <a:r>
              <a:rPr sz="1800" spc="90" dirty="0">
                <a:latin typeface="Century Gothic" panose="020B0502020202020204" pitchFamily="34" charset="0"/>
                <a:cs typeface="Verdana" panose="020B0604030504040204"/>
              </a:rPr>
              <a:t>e</a:t>
            </a:r>
            <a:r>
              <a:rPr sz="1800" spc="-320" dirty="0">
                <a:latin typeface="Century Gothic" panose="020B0502020202020204" pitchFamily="34" charset="0"/>
                <a:cs typeface="Verdana" panose="020B0604030504040204"/>
              </a:rPr>
              <a:t>:</a:t>
            </a:r>
            <a:r>
              <a:rPr sz="1800" spc="-140" dirty="0">
                <a:latin typeface="Century Gothic" panose="020B0502020202020204" pitchFamily="34" charset="0"/>
                <a:cs typeface="Verdana" panose="020B0604030504040204"/>
              </a:rPr>
              <a:t> </a:t>
            </a:r>
            <a:r>
              <a:rPr sz="1800" spc="-155" dirty="0">
                <a:latin typeface="Century Gothic" panose="020B0502020202020204" pitchFamily="34" charset="0"/>
                <a:cs typeface="Verdana" panose="020B0604030504040204"/>
              </a:rPr>
              <a:t>0092</a:t>
            </a:r>
            <a:r>
              <a:rPr sz="1800" spc="-220" dirty="0">
                <a:latin typeface="Century Gothic" panose="020B0502020202020204" pitchFamily="34" charset="0"/>
                <a:cs typeface="Verdana" panose="020B0604030504040204"/>
              </a:rPr>
              <a:t>-</a:t>
            </a:r>
            <a:r>
              <a:rPr sz="1800" spc="-155" dirty="0">
                <a:latin typeface="Century Gothic" panose="020B0502020202020204" pitchFamily="34" charset="0"/>
                <a:cs typeface="Verdana" panose="020B0604030504040204"/>
              </a:rPr>
              <a:t>51</a:t>
            </a:r>
            <a:r>
              <a:rPr sz="1800" spc="-220" dirty="0">
                <a:latin typeface="Century Gothic" panose="020B0502020202020204" pitchFamily="34" charset="0"/>
                <a:cs typeface="Verdana" panose="020B0604030504040204"/>
              </a:rPr>
              <a:t>-</a:t>
            </a:r>
            <a:r>
              <a:rPr sz="1800" spc="-155" dirty="0">
                <a:latin typeface="Century Gothic" panose="020B0502020202020204" pitchFamily="34" charset="0"/>
                <a:cs typeface="Verdana" panose="020B0604030504040204"/>
              </a:rPr>
              <a:t>612814</a:t>
            </a:r>
            <a:r>
              <a:rPr sz="1800" spc="-150" dirty="0">
                <a:latin typeface="Century Gothic" panose="020B0502020202020204" pitchFamily="34" charset="0"/>
                <a:cs typeface="Verdana" panose="020B0604030504040204"/>
              </a:rPr>
              <a:t>4</a:t>
            </a:r>
            <a:r>
              <a:rPr sz="1800" spc="-95" dirty="0">
                <a:latin typeface="Century Gothic" panose="020B0502020202020204" pitchFamily="34" charset="0"/>
                <a:cs typeface="Verdana" panose="020B0604030504040204"/>
              </a:rPr>
              <a:t> </a:t>
            </a:r>
            <a:r>
              <a:rPr sz="1800" spc="390" dirty="0">
                <a:latin typeface="Century Gothic" panose="020B0502020202020204" pitchFamily="34" charset="0"/>
                <a:cs typeface="Verdana" panose="020B0604030504040204"/>
              </a:rPr>
              <a:t>|</a:t>
            </a:r>
            <a:r>
              <a:rPr sz="1800" spc="-140" dirty="0">
                <a:latin typeface="Century Gothic" panose="020B0502020202020204" pitchFamily="34" charset="0"/>
                <a:cs typeface="Verdana" panose="020B0604030504040204"/>
              </a:rPr>
              <a:t> </a:t>
            </a:r>
            <a:r>
              <a:rPr sz="1800" spc="-155" dirty="0">
                <a:latin typeface="Century Gothic" panose="020B0502020202020204" pitchFamily="34" charset="0"/>
                <a:cs typeface="Verdana" panose="020B0604030504040204"/>
              </a:rPr>
              <a:t>0092</a:t>
            </a:r>
            <a:r>
              <a:rPr sz="1800" spc="-220" dirty="0">
                <a:latin typeface="Century Gothic" panose="020B0502020202020204" pitchFamily="34" charset="0"/>
                <a:cs typeface="Verdana" panose="020B0604030504040204"/>
              </a:rPr>
              <a:t>-</a:t>
            </a:r>
            <a:r>
              <a:rPr sz="1800" spc="-155" dirty="0">
                <a:latin typeface="Century Gothic" panose="020B0502020202020204" pitchFamily="34" charset="0"/>
                <a:cs typeface="Verdana" panose="020B0604030504040204"/>
              </a:rPr>
              <a:t>31</a:t>
            </a:r>
            <a:r>
              <a:rPr sz="1800" spc="-150" dirty="0">
                <a:latin typeface="Century Gothic" panose="020B0502020202020204" pitchFamily="34" charset="0"/>
                <a:cs typeface="Verdana" panose="020B0604030504040204"/>
              </a:rPr>
              <a:t>3</a:t>
            </a:r>
            <a:r>
              <a:rPr sz="1800" spc="-114" dirty="0">
                <a:latin typeface="Century Gothic" panose="020B0502020202020204" pitchFamily="34" charset="0"/>
                <a:cs typeface="Verdana" panose="020B0604030504040204"/>
              </a:rPr>
              <a:t> </a:t>
            </a:r>
            <a:r>
              <a:rPr sz="1800" spc="-155" dirty="0">
                <a:latin typeface="Century Gothic" panose="020B0502020202020204" pitchFamily="34" charset="0"/>
                <a:cs typeface="Verdana" panose="020B0604030504040204"/>
              </a:rPr>
              <a:t>57</a:t>
            </a:r>
            <a:r>
              <a:rPr sz="1800" spc="-160" dirty="0">
                <a:latin typeface="Century Gothic" panose="020B0502020202020204" pitchFamily="34" charset="0"/>
                <a:cs typeface="Verdana" panose="020B0604030504040204"/>
              </a:rPr>
              <a:t>2</a:t>
            </a:r>
            <a:r>
              <a:rPr sz="1800" spc="-155" dirty="0">
                <a:latin typeface="Century Gothic" panose="020B0502020202020204" pitchFamily="34" charset="0"/>
                <a:cs typeface="Verdana" panose="020B0604030504040204"/>
              </a:rPr>
              <a:t>24</a:t>
            </a:r>
            <a:r>
              <a:rPr sz="1800" spc="-160" dirty="0">
                <a:latin typeface="Century Gothic" panose="020B0502020202020204" pitchFamily="34" charset="0"/>
                <a:cs typeface="Verdana" panose="020B0604030504040204"/>
              </a:rPr>
              <a:t>0</a:t>
            </a:r>
            <a:r>
              <a:rPr sz="1800" spc="-150" dirty="0">
                <a:latin typeface="Century Gothic" panose="020B0502020202020204" pitchFamily="34" charset="0"/>
                <a:cs typeface="Verdana" panose="020B0604030504040204"/>
              </a:rPr>
              <a:t>9</a:t>
            </a:r>
            <a:endParaRPr sz="1800" dirty="0">
              <a:latin typeface="Century Gothic" panose="020B0502020202020204" pitchFamily="34" charset="0"/>
              <a:cs typeface="Verdana" panose="020B0604030504040204"/>
            </a:endParaRPr>
          </a:p>
          <a:p>
            <a:pPr marL="635" algn="ctr">
              <a:lnSpc>
                <a:spcPts val="2150"/>
              </a:lnSpc>
            </a:pPr>
            <a:r>
              <a:rPr sz="1800" spc="-65" dirty="0">
                <a:latin typeface="Century Gothic" panose="020B0502020202020204" pitchFamily="34" charset="0"/>
                <a:cs typeface="Verdana" panose="020B0604030504040204"/>
              </a:rPr>
              <a:t>email:</a:t>
            </a:r>
            <a:r>
              <a:rPr sz="1800" spc="-150" dirty="0">
                <a:latin typeface="Century Gothic" panose="020B0502020202020204" pitchFamily="34" charset="0"/>
                <a:cs typeface="Verdana" panose="020B0604030504040204"/>
              </a:rPr>
              <a:t> </a:t>
            </a:r>
            <a:r>
              <a:rPr sz="1800" spc="-25" dirty="0">
                <a:solidFill>
                  <a:srgbClr val="0462C1"/>
                </a:solidFill>
                <a:latin typeface="Century Gothic" panose="020B0502020202020204" pitchFamily="34" charset="0"/>
                <a:cs typeface="Verdana" panose="020B0604030504040204"/>
                <a:hlinkClick r:id="rId6"/>
              </a:rPr>
              <a:t>info@robotmea.com</a:t>
            </a:r>
            <a:r>
              <a:rPr sz="1800" spc="-25" dirty="0">
                <a:latin typeface="Century Gothic" panose="020B0502020202020204" pitchFamily="34" charset="0"/>
                <a:cs typeface="Verdana" panose="020B0604030504040204"/>
              </a:rPr>
              <a:t>,</a:t>
            </a:r>
            <a:r>
              <a:rPr sz="1800" spc="-130" dirty="0">
                <a:latin typeface="Century Gothic" panose="020B0502020202020204" pitchFamily="34" charset="0"/>
                <a:cs typeface="Verdana" panose="020B0604030504040204"/>
              </a:rPr>
              <a:t> </a:t>
            </a:r>
            <a:r>
              <a:rPr sz="1800" dirty="0">
                <a:latin typeface="Century Gothic" panose="020B0502020202020204" pitchFamily="34" charset="0"/>
                <a:cs typeface="Verdana" panose="020B0604030504040204"/>
                <a:hlinkClick r:id="rId7"/>
              </a:rPr>
              <a:t>www.robotmea.com</a:t>
            </a:r>
            <a:endParaRPr sz="1800" dirty="0">
              <a:latin typeface="Century Gothic" panose="020B0502020202020204" pitchFamily="34" charset="0"/>
              <a:cs typeface="Verdana" panose="020B060403050404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89746" y="480186"/>
            <a:ext cx="361822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25" dirty="0">
                <a:latin typeface="Verdana" panose="020B0604030504040204"/>
                <a:cs typeface="Verdana" panose="020B0604030504040204"/>
              </a:rPr>
              <a:t>T</a:t>
            </a:r>
            <a:r>
              <a:rPr sz="1600" b="1" spc="-100" dirty="0">
                <a:latin typeface="Verdana" panose="020B0604030504040204"/>
                <a:cs typeface="Verdana" panose="020B0604030504040204"/>
              </a:rPr>
              <a:t>r</a:t>
            </a:r>
            <a:r>
              <a:rPr sz="1600" b="1" spc="-75" dirty="0">
                <a:latin typeface="Verdana" panose="020B0604030504040204"/>
                <a:cs typeface="Verdana" panose="020B0604030504040204"/>
              </a:rPr>
              <a:t>ans</a:t>
            </a:r>
            <a:r>
              <a:rPr sz="1600" b="1" spc="-70" dirty="0">
                <a:latin typeface="Verdana" panose="020B0604030504040204"/>
                <a:cs typeface="Verdana" panose="020B0604030504040204"/>
              </a:rPr>
              <a:t>f</a:t>
            </a:r>
            <a:r>
              <a:rPr sz="1600" b="1" spc="-95" dirty="0">
                <a:latin typeface="Verdana" panose="020B0604030504040204"/>
                <a:cs typeface="Verdana" panose="020B0604030504040204"/>
              </a:rPr>
              <a:t>o</a:t>
            </a:r>
            <a:r>
              <a:rPr sz="1600" b="1" spc="-75" dirty="0">
                <a:latin typeface="Verdana" panose="020B0604030504040204"/>
                <a:cs typeface="Verdana" panose="020B0604030504040204"/>
              </a:rPr>
              <a:t>r</a:t>
            </a:r>
            <a:r>
              <a:rPr sz="1600" b="1" spc="-20" dirty="0">
                <a:latin typeface="Verdana" panose="020B0604030504040204"/>
                <a:cs typeface="Verdana" panose="020B0604030504040204"/>
              </a:rPr>
              <a:t>m</a:t>
            </a:r>
            <a:r>
              <a:rPr sz="1600" b="1" spc="-35" dirty="0">
                <a:latin typeface="Verdana" panose="020B0604030504040204"/>
                <a:cs typeface="Verdana" panose="020B0604030504040204"/>
              </a:rPr>
              <a:t>ing</a:t>
            </a:r>
            <a:r>
              <a:rPr sz="1600" b="1" spc="-7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1" spc="-45" dirty="0">
                <a:latin typeface="Verdana" panose="020B0604030504040204"/>
                <a:cs typeface="Verdana" panose="020B0604030504040204"/>
              </a:rPr>
              <a:t>the</a:t>
            </a:r>
            <a:r>
              <a:rPr sz="1600" b="1" spc="-9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1" spc="-35" dirty="0">
                <a:latin typeface="Verdana" panose="020B0604030504040204"/>
                <a:cs typeface="Verdana" panose="020B0604030504040204"/>
              </a:rPr>
              <a:t>Fut</a:t>
            </a:r>
            <a:r>
              <a:rPr sz="1600" b="1" spc="-50" dirty="0">
                <a:latin typeface="Verdana" panose="020B0604030504040204"/>
                <a:cs typeface="Verdana" panose="020B0604030504040204"/>
              </a:rPr>
              <a:t>u</a:t>
            </a:r>
            <a:r>
              <a:rPr sz="1600" b="1" spc="-85" dirty="0">
                <a:latin typeface="Verdana" panose="020B0604030504040204"/>
                <a:cs typeface="Verdana" panose="020B0604030504040204"/>
              </a:rPr>
              <a:t>re</a:t>
            </a:r>
            <a:r>
              <a:rPr sz="1600" b="1" spc="-65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1" spc="-60" dirty="0">
                <a:latin typeface="Verdana" panose="020B0604030504040204"/>
                <a:cs typeface="Verdana" panose="020B0604030504040204"/>
              </a:rPr>
              <a:t>of</a:t>
            </a:r>
            <a:r>
              <a:rPr sz="1600" b="1" spc="-9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1" spc="-55" dirty="0">
                <a:latin typeface="Verdana" panose="020B0604030504040204"/>
                <a:cs typeface="Verdana" panose="020B0604030504040204"/>
              </a:rPr>
              <a:t>Youth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744" y="272268"/>
            <a:ext cx="1902482" cy="63295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4275" y="0"/>
            <a:ext cx="276225" cy="1619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8743" y="978967"/>
            <a:ext cx="11690344" cy="96562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5FD48670-1918-1764-8D2D-6DFF16C1D3B6}"/>
              </a:ext>
            </a:extLst>
          </p:cNvPr>
          <p:cNvSpPr txBox="1">
            <a:spLocks/>
          </p:cNvSpPr>
          <p:nvPr/>
        </p:nvSpPr>
        <p:spPr>
          <a:xfrm>
            <a:off x="1470989" y="2145687"/>
            <a:ext cx="9058141" cy="1343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 b="1" dirty="0">
                <a:solidFill>
                  <a:srgbClr val="1F497D"/>
                </a:solidFill>
                <a:latin typeface="Montserrat" panose="00000500000000000000" pitchFamily="50" charset="0"/>
              </a:rPr>
              <a:t>Thank You</a:t>
            </a:r>
          </a:p>
        </p:txBody>
      </p:sp>
      <p:sp>
        <p:nvSpPr>
          <p:cNvPr id="16" name="CustomShape 5">
            <a:extLst>
              <a:ext uri="{FF2B5EF4-FFF2-40B4-BE49-F238E27FC236}">
                <a16:creationId xmlns:a16="http://schemas.microsoft.com/office/drawing/2014/main" id="{0CFA3070-F2E5-E4AA-EF95-A341846B259F}"/>
              </a:ext>
            </a:extLst>
          </p:cNvPr>
          <p:cNvSpPr/>
          <p:nvPr/>
        </p:nvSpPr>
        <p:spPr>
          <a:xfrm>
            <a:off x="1683480" y="1279748"/>
            <a:ext cx="8633160" cy="53604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11" tIns="45706" rIns="91411" bIns="45706" anchor="ctr"/>
          <a:lstStyle/>
          <a:p>
            <a:pPr algn="ctr">
              <a:lnSpc>
                <a:spcPct val="100000"/>
              </a:lnSpc>
            </a:pPr>
            <a:r>
              <a:rPr lang="en-US" sz="2400" b="1" spc="-1" dirty="0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Century Gothic"/>
              </a:rPr>
              <a:t>Transforming the Future of Youth</a:t>
            </a:r>
            <a:endParaRPr lang="en-US" sz="4400" b="1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3637</TotalTime>
  <Words>1312</Words>
  <Application>Microsoft Office PowerPoint</Application>
  <PresentationFormat>Widescreen</PresentationFormat>
  <Paragraphs>142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Arial</vt:lpstr>
      <vt:lpstr>Calibri</vt:lpstr>
      <vt:lpstr>Calibri Light</vt:lpstr>
      <vt:lpstr>Century</vt:lpstr>
      <vt:lpstr>Century Gothic</vt:lpstr>
      <vt:lpstr>Helvetica Light</vt:lpstr>
      <vt:lpstr>Montserrat</vt:lpstr>
      <vt:lpstr>Segoe UI Historic</vt:lpstr>
      <vt:lpstr>Verdana</vt:lpstr>
      <vt:lpstr>Wingdings</vt:lpstr>
      <vt:lpstr>Office Theme</vt:lpstr>
      <vt:lpstr>1_Custom Design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Model</dc:title>
  <dc:creator>Najmus Sehar Bukhari</dc:creator>
  <cp:lastModifiedBy>Robotmea</cp:lastModifiedBy>
  <cp:revision>830</cp:revision>
  <dcterms:created xsi:type="dcterms:W3CDTF">2021-04-01T10:28:00Z</dcterms:created>
  <dcterms:modified xsi:type="dcterms:W3CDTF">2026-06-10T09:38:15Z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C63C828BEE51443DBA5E8DD20067369C_12</vt:lpwstr>
  </property>
  <property fmtid="{D5CDD505-2E9C-101B-9397-08002B2CF9AE}" pid="3" name="KSOProductBuildVer">
    <vt:lpwstr>1033-12.1.0.25242</vt:lpwstr>
  </property>
</Properties>
</file>